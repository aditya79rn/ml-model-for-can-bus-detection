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2"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057B5-B88F-30D9-39CD-1F2F80A90B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BBEEAB0-0678-1614-2FB7-4F5F663915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F46B85-6B35-1CAC-5758-CD25DC46CD89}"/>
              </a:ext>
            </a:extLst>
          </p:cNvPr>
          <p:cNvSpPr>
            <a:spLocks noGrp="1"/>
          </p:cNvSpPr>
          <p:nvPr>
            <p:ph type="dt" sz="half" idx="10"/>
          </p:nvPr>
        </p:nvSpPr>
        <p:spPr/>
        <p:txBody>
          <a:bodyPr/>
          <a:lstStyle/>
          <a:p>
            <a:fld id="{1FC3EC1D-0274-4F91-BCFA-51464AE27429}" type="datetimeFigureOut">
              <a:rPr lang="en-IN" smtClean="0"/>
              <a:t>22-04-2025</a:t>
            </a:fld>
            <a:endParaRPr lang="en-IN"/>
          </a:p>
        </p:txBody>
      </p:sp>
      <p:sp>
        <p:nvSpPr>
          <p:cNvPr id="5" name="Footer Placeholder 4">
            <a:extLst>
              <a:ext uri="{FF2B5EF4-FFF2-40B4-BE49-F238E27FC236}">
                <a16:creationId xmlns:a16="http://schemas.microsoft.com/office/drawing/2014/main" id="{FD880A0B-33C6-2A18-9257-1B82C1377D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3A0D0C-FBB8-8E8F-44BD-BD8AD092C834}"/>
              </a:ext>
            </a:extLst>
          </p:cNvPr>
          <p:cNvSpPr>
            <a:spLocks noGrp="1"/>
          </p:cNvSpPr>
          <p:nvPr>
            <p:ph type="sldNum" sz="quarter" idx="12"/>
          </p:nvPr>
        </p:nvSpPr>
        <p:spPr/>
        <p:txBody>
          <a:bodyPr/>
          <a:lstStyle/>
          <a:p>
            <a:fld id="{526843E1-9C46-4262-9806-B62F7948583A}" type="slidenum">
              <a:rPr lang="en-IN" smtClean="0"/>
              <a:t>‹#›</a:t>
            </a:fld>
            <a:endParaRPr lang="en-IN"/>
          </a:p>
        </p:txBody>
      </p:sp>
    </p:spTree>
    <p:extLst>
      <p:ext uri="{BB962C8B-B14F-4D97-AF65-F5344CB8AC3E}">
        <p14:creationId xmlns:p14="http://schemas.microsoft.com/office/powerpoint/2010/main" val="2328139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6C63B-6094-CEF2-6534-38C9EDBE10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1F87D6-F871-BBA4-8D94-8B115C0E80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3F75E3-CACC-2BBF-380E-A32B80ABF438}"/>
              </a:ext>
            </a:extLst>
          </p:cNvPr>
          <p:cNvSpPr>
            <a:spLocks noGrp="1"/>
          </p:cNvSpPr>
          <p:nvPr>
            <p:ph type="dt" sz="half" idx="10"/>
          </p:nvPr>
        </p:nvSpPr>
        <p:spPr/>
        <p:txBody>
          <a:bodyPr/>
          <a:lstStyle/>
          <a:p>
            <a:fld id="{1FC3EC1D-0274-4F91-BCFA-51464AE27429}" type="datetimeFigureOut">
              <a:rPr lang="en-IN" smtClean="0"/>
              <a:t>22-04-2025</a:t>
            </a:fld>
            <a:endParaRPr lang="en-IN"/>
          </a:p>
        </p:txBody>
      </p:sp>
      <p:sp>
        <p:nvSpPr>
          <p:cNvPr id="5" name="Footer Placeholder 4">
            <a:extLst>
              <a:ext uri="{FF2B5EF4-FFF2-40B4-BE49-F238E27FC236}">
                <a16:creationId xmlns:a16="http://schemas.microsoft.com/office/drawing/2014/main" id="{75E1C80C-3B99-CBAB-DF87-534610CB96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208477-47A5-A090-0989-5A8BDC9DFBED}"/>
              </a:ext>
            </a:extLst>
          </p:cNvPr>
          <p:cNvSpPr>
            <a:spLocks noGrp="1"/>
          </p:cNvSpPr>
          <p:nvPr>
            <p:ph type="sldNum" sz="quarter" idx="12"/>
          </p:nvPr>
        </p:nvSpPr>
        <p:spPr/>
        <p:txBody>
          <a:bodyPr/>
          <a:lstStyle/>
          <a:p>
            <a:fld id="{526843E1-9C46-4262-9806-B62F7948583A}" type="slidenum">
              <a:rPr lang="en-IN" smtClean="0"/>
              <a:t>‹#›</a:t>
            </a:fld>
            <a:endParaRPr lang="en-IN"/>
          </a:p>
        </p:txBody>
      </p:sp>
    </p:spTree>
    <p:extLst>
      <p:ext uri="{BB962C8B-B14F-4D97-AF65-F5344CB8AC3E}">
        <p14:creationId xmlns:p14="http://schemas.microsoft.com/office/powerpoint/2010/main" val="1373812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95AB2-020E-93C9-18DC-F51BB6BF94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A46FAB-9E9F-B2D8-865A-F1BA79C515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23067F-948B-BC5B-96E6-9D57FB0A7BE2}"/>
              </a:ext>
            </a:extLst>
          </p:cNvPr>
          <p:cNvSpPr>
            <a:spLocks noGrp="1"/>
          </p:cNvSpPr>
          <p:nvPr>
            <p:ph type="dt" sz="half" idx="10"/>
          </p:nvPr>
        </p:nvSpPr>
        <p:spPr/>
        <p:txBody>
          <a:bodyPr/>
          <a:lstStyle/>
          <a:p>
            <a:fld id="{1FC3EC1D-0274-4F91-BCFA-51464AE27429}" type="datetimeFigureOut">
              <a:rPr lang="en-IN" smtClean="0"/>
              <a:t>22-04-2025</a:t>
            </a:fld>
            <a:endParaRPr lang="en-IN"/>
          </a:p>
        </p:txBody>
      </p:sp>
      <p:sp>
        <p:nvSpPr>
          <p:cNvPr id="5" name="Footer Placeholder 4">
            <a:extLst>
              <a:ext uri="{FF2B5EF4-FFF2-40B4-BE49-F238E27FC236}">
                <a16:creationId xmlns:a16="http://schemas.microsoft.com/office/drawing/2014/main" id="{FAA875D2-FC4E-BCA3-1361-61D155518C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6B8FA4-D6D8-85E6-7387-1ED03216399E}"/>
              </a:ext>
            </a:extLst>
          </p:cNvPr>
          <p:cNvSpPr>
            <a:spLocks noGrp="1"/>
          </p:cNvSpPr>
          <p:nvPr>
            <p:ph type="sldNum" sz="quarter" idx="12"/>
          </p:nvPr>
        </p:nvSpPr>
        <p:spPr/>
        <p:txBody>
          <a:bodyPr/>
          <a:lstStyle/>
          <a:p>
            <a:fld id="{526843E1-9C46-4262-9806-B62F7948583A}" type="slidenum">
              <a:rPr lang="en-IN" smtClean="0"/>
              <a:t>‹#›</a:t>
            </a:fld>
            <a:endParaRPr lang="en-IN"/>
          </a:p>
        </p:txBody>
      </p:sp>
    </p:spTree>
    <p:extLst>
      <p:ext uri="{BB962C8B-B14F-4D97-AF65-F5344CB8AC3E}">
        <p14:creationId xmlns:p14="http://schemas.microsoft.com/office/powerpoint/2010/main" val="2343045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B9B7D-DDCA-E4D1-0DD7-40CA8F791E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53C9D6-5327-031E-F3BD-F375667B85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19EC01-B2D1-2D7D-7884-F3B38DC186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E5925A-ED4B-6ED8-FDC7-F7C255DCE064}"/>
              </a:ext>
            </a:extLst>
          </p:cNvPr>
          <p:cNvSpPr>
            <a:spLocks noGrp="1"/>
          </p:cNvSpPr>
          <p:nvPr>
            <p:ph type="dt" sz="half" idx="10"/>
          </p:nvPr>
        </p:nvSpPr>
        <p:spPr/>
        <p:txBody>
          <a:bodyPr/>
          <a:lstStyle/>
          <a:p>
            <a:fld id="{1FC3EC1D-0274-4F91-BCFA-51464AE27429}" type="datetimeFigureOut">
              <a:rPr lang="en-IN" smtClean="0"/>
              <a:t>22-04-2025</a:t>
            </a:fld>
            <a:endParaRPr lang="en-IN"/>
          </a:p>
        </p:txBody>
      </p:sp>
      <p:sp>
        <p:nvSpPr>
          <p:cNvPr id="6" name="Footer Placeholder 5">
            <a:extLst>
              <a:ext uri="{FF2B5EF4-FFF2-40B4-BE49-F238E27FC236}">
                <a16:creationId xmlns:a16="http://schemas.microsoft.com/office/drawing/2014/main" id="{6EC0D1A8-0FAB-629D-D03C-CD91F228C0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6336A9-19A5-2D05-DEB5-46AB4F834CBB}"/>
              </a:ext>
            </a:extLst>
          </p:cNvPr>
          <p:cNvSpPr>
            <a:spLocks noGrp="1"/>
          </p:cNvSpPr>
          <p:nvPr>
            <p:ph type="sldNum" sz="quarter" idx="12"/>
          </p:nvPr>
        </p:nvSpPr>
        <p:spPr/>
        <p:txBody>
          <a:bodyPr/>
          <a:lstStyle/>
          <a:p>
            <a:fld id="{526843E1-9C46-4262-9806-B62F7948583A}" type="slidenum">
              <a:rPr lang="en-IN" smtClean="0"/>
              <a:t>‹#›</a:t>
            </a:fld>
            <a:endParaRPr lang="en-IN"/>
          </a:p>
        </p:txBody>
      </p:sp>
    </p:spTree>
    <p:extLst>
      <p:ext uri="{BB962C8B-B14F-4D97-AF65-F5344CB8AC3E}">
        <p14:creationId xmlns:p14="http://schemas.microsoft.com/office/powerpoint/2010/main" val="503019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AD203-B27F-683D-6AC6-13194F269E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A0E71A-D621-3865-563C-BAF387C8DB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58471A-ABBE-6755-BC3F-8305726911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55C7F18-F274-4906-2DE7-300E75DDC9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CBA7BA-E706-5B25-A419-3DEE464C64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DFB848C-9F25-9445-E0E7-D82A3B1195F0}"/>
              </a:ext>
            </a:extLst>
          </p:cNvPr>
          <p:cNvSpPr>
            <a:spLocks noGrp="1"/>
          </p:cNvSpPr>
          <p:nvPr>
            <p:ph type="dt" sz="half" idx="10"/>
          </p:nvPr>
        </p:nvSpPr>
        <p:spPr/>
        <p:txBody>
          <a:bodyPr/>
          <a:lstStyle/>
          <a:p>
            <a:fld id="{1FC3EC1D-0274-4F91-BCFA-51464AE27429}" type="datetimeFigureOut">
              <a:rPr lang="en-IN" smtClean="0"/>
              <a:t>22-04-2025</a:t>
            </a:fld>
            <a:endParaRPr lang="en-IN"/>
          </a:p>
        </p:txBody>
      </p:sp>
      <p:sp>
        <p:nvSpPr>
          <p:cNvPr id="8" name="Footer Placeholder 7">
            <a:extLst>
              <a:ext uri="{FF2B5EF4-FFF2-40B4-BE49-F238E27FC236}">
                <a16:creationId xmlns:a16="http://schemas.microsoft.com/office/drawing/2014/main" id="{6136B590-7B33-7A03-CDD4-B62FE97C62F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C9F236B-6BAC-EE67-38A2-02939A808127}"/>
              </a:ext>
            </a:extLst>
          </p:cNvPr>
          <p:cNvSpPr>
            <a:spLocks noGrp="1"/>
          </p:cNvSpPr>
          <p:nvPr>
            <p:ph type="sldNum" sz="quarter" idx="12"/>
          </p:nvPr>
        </p:nvSpPr>
        <p:spPr/>
        <p:txBody>
          <a:bodyPr/>
          <a:lstStyle/>
          <a:p>
            <a:fld id="{526843E1-9C46-4262-9806-B62F7948583A}" type="slidenum">
              <a:rPr lang="en-IN" smtClean="0"/>
              <a:t>‹#›</a:t>
            </a:fld>
            <a:endParaRPr lang="en-IN"/>
          </a:p>
        </p:txBody>
      </p:sp>
    </p:spTree>
    <p:extLst>
      <p:ext uri="{BB962C8B-B14F-4D97-AF65-F5344CB8AC3E}">
        <p14:creationId xmlns:p14="http://schemas.microsoft.com/office/powerpoint/2010/main" val="3204295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EC6A3-D083-2569-F93F-7F4B560F524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1749C8A-12B3-8F15-2D7D-0AA639BA9A4B}"/>
              </a:ext>
            </a:extLst>
          </p:cNvPr>
          <p:cNvSpPr>
            <a:spLocks noGrp="1"/>
          </p:cNvSpPr>
          <p:nvPr>
            <p:ph type="dt" sz="half" idx="10"/>
          </p:nvPr>
        </p:nvSpPr>
        <p:spPr/>
        <p:txBody>
          <a:bodyPr/>
          <a:lstStyle/>
          <a:p>
            <a:fld id="{1FC3EC1D-0274-4F91-BCFA-51464AE27429}" type="datetimeFigureOut">
              <a:rPr lang="en-IN" smtClean="0"/>
              <a:t>22-04-2025</a:t>
            </a:fld>
            <a:endParaRPr lang="en-IN"/>
          </a:p>
        </p:txBody>
      </p:sp>
      <p:sp>
        <p:nvSpPr>
          <p:cNvPr id="4" name="Footer Placeholder 3">
            <a:extLst>
              <a:ext uri="{FF2B5EF4-FFF2-40B4-BE49-F238E27FC236}">
                <a16:creationId xmlns:a16="http://schemas.microsoft.com/office/drawing/2014/main" id="{78A9F707-3ECC-334B-6499-CEAAE0D3EB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716C60-454B-CB3B-59D1-4BCFBD24C20D}"/>
              </a:ext>
            </a:extLst>
          </p:cNvPr>
          <p:cNvSpPr>
            <a:spLocks noGrp="1"/>
          </p:cNvSpPr>
          <p:nvPr>
            <p:ph type="sldNum" sz="quarter" idx="12"/>
          </p:nvPr>
        </p:nvSpPr>
        <p:spPr/>
        <p:txBody>
          <a:bodyPr/>
          <a:lstStyle/>
          <a:p>
            <a:fld id="{526843E1-9C46-4262-9806-B62F7948583A}" type="slidenum">
              <a:rPr lang="en-IN" smtClean="0"/>
              <a:t>‹#›</a:t>
            </a:fld>
            <a:endParaRPr lang="en-IN"/>
          </a:p>
        </p:txBody>
      </p:sp>
    </p:spTree>
    <p:extLst>
      <p:ext uri="{BB962C8B-B14F-4D97-AF65-F5344CB8AC3E}">
        <p14:creationId xmlns:p14="http://schemas.microsoft.com/office/powerpoint/2010/main" val="4195370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3C8C5A-6E5B-2614-FC50-C15DCE862FBA}"/>
              </a:ext>
            </a:extLst>
          </p:cNvPr>
          <p:cNvSpPr>
            <a:spLocks noGrp="1"/>
          </p:cNvSpPr>
          <p:nvPr>
            <p:ph type="dt" sz="half" idx="10"/>
          </p:nvPr>
        </p:nvSpPr>
        <p:spPr/>
        <p:txBody>
          <a:bodyPr/>
          <a:lstStyle/>
          <a:p>
            <a:fld id="{1FC3EC1D-0274-4F91-BCFA-51464AE27429}" type="datetimeFigureOut">
              <a:rPr lang="en-IN" smtClean="0"/>
              <a:t>22-04-2025</a:t>
            </a:fld>
            <a:endParaRPr lang="en-IN"/>
          </a:p>
        </p:txBody>
      </p:sp>
      <p:sp>
        <p:nvSpPr>
          <p:cNvPr id="3" name="Footer Placeholder 2">
            <a:extLst>
              <a:ext uri="{FF2B5EF4-FFF2-40B4-BE49-F238E27FC236}">
                <a16:creationId xmlns:a16="http://schemas.microsoft.com/office/drawing/2014/main" id="{5A859170-0FC9-B462-9EF5-A8296E7A98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07B3FD7-8C73-B08D-67A9-66B64C460101}"/>
              </a:ext>
            </a:extLst>
          </p:cNvPr>
          <p:cNvSpPr>
            <a:spLocks noGrp="1"/>
          </p:cNvSpPr>
          <p:nvPr>
            <p:ph type="sldNum" sz="quarter" idx="12"/>
          </p:nvPr>
        </p:nvSpPr>
        <p:spPr/>
        <p:txBody>
          <a:bodyPr/>
          <a:lstStyle/>
          <a:p>
            <a:fld id="{526843E1-9C46-4262-9806-B62F7948583A}" type="slidenum">
              <a:rPr lang="en-IN" smtClean="0"/>
              <a:t>‹#›</a:t>
            </a:fld>
            <a:endParaRPr lang="en-IN"/>
          </a:p>
        </p:txBody>
      </p:sp>
    </p:spTree>
    <p:extLst>
      <p:ext uri="{BB962C8B-B14F-4D97-AF65-F5344CB8AC3E}">
        <p14:creationId xmlns:p14="http://schemas.microsoft.com/office/powerpoint/2010/main" val="2455078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B0EAC-0794-72C9-A502-83A8FEB9D2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56313D-C8CB-15D9-347B-92A6E55F64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93E400A-35C4-7BC3-DA13-D198F5A965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80764A-B72E-07CA-F9E9-81FDFE29B8F4}"/>
              </a:ext>
            </a:extLst>
          </p:cNvPr>
          <p:cNvSpPr>
            <a:spLocks noGrp="1"/>
          </p:cNvSpPr>
          <p:nvPr>
            <p:ph type="dt" sz="half" idx="10"/>
          </p:nvPr>
        </p:nvSpPr>
        <p:spPr/>
        <p:txBody>
          <a:bodyPr/>
          <a:lstStyle/>
          <a:p>
            <a:fld id="{1FC3EC1D-0274-4F91-BCFA-51464AE27429}" type="datetimeFigureOut">
              <a:rPr lang="en-IN" smtClean="0"/>
              <a:t>22-04-2025</a:t>
            </a:fld>
            <a:endParaRPr lang="en-IN"/>
          </a:p>
        </p:txBody>
      </p:sp>
      <p:sp>
        <p:nvSpPr>
          <p:cNvPr id="6" name="Footer Placeholder 5">
            <a:extLst>
              <a:ext uri="{FF2B5EF4-FFF2-40B4-BE49-F238E27FC236}">
                <a16:creationId xmlns:a16="http://schemas.microsoft.com/office/drawing/2014/main" id="{EE280578-AACF-B96D-EAD5-4FCB6433D0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5D84E6-E004-1FB3-E1D0-5EB4799D9232}"/>
              </a:ext>
            </a:extLst>
          </p:cNvPr>
          <p:cNvSpPr>
            <a:spLocks noGrp="1"/>
          </p:cNvSpPr>
          <p:nvPr>
            <p:ph type="sldNum" sz="quarter" idx="12"/>
          </p:nvPr>
        </p:nvSpPr>
        <p:spPr/>
        <p:txBody>
          <a:bodyPr/>
          <a:lstStyle/>
          <a:p>
            <a:fld id="{526843E1-9C46-4262-9806-B62F7948583A}" type="slidenum">
              <a:rPr lang="en-IN" smtClean="0"/>
              <a:t>‹#›</a:t>
            </a:fld>
            <a:endParaRPr lang="en-IN"/>
          </a:p>
        </p:txBody>
      </p:sp>
    </p:spTree>
    <p:extLst>
      <p:ext uri="{BB962C8B-B14F-4D97-AF65-F5344CB8AC3E}">
        <p14:creationId xmlns:p14="http://schemas.microsoft.com/office/powerpoint/2010/main" val="19303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02A73-0B3E-069A-D0C1-266CDE80C6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97053F-C6E4-0084-DCFE-259917D924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7184FB2-1904-F38E-B0A3-35FC20E850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B345CD-31CF-CBA9-9FBB-F04B70D72DAB}"/>
              </a:ext>
            </a:extLst>
          </p:cNvPr>
          <p:cNvSpPr>
            <a:spLocks noGrp="1"/>
          </p:cNvSpPr>
          <p:nvPr>
            <p:ph type="dt" sz="half" idx="10"/>
          </p:nvPr>
        </p:nvSpPr>
        <p:spPr/>
        <p:txBody>
          <a:bodyPr/>
          <a:lstStyle/>
          <a:p>
            <a:fld id="{1FC3EC1D-0274-4F91-BCFA-51464AE27429}" type="datetimeFigureOut">
              <a:rPr lang="en-IN" smtClean="0"/>
              <a:t>22-04-2025</a:t>
            </a:fld>
            <a:endParaRPr lang="en-IN"/>
          </a:p>
        </p:txBody>
      </p:sp>
      <p:sp>
        <p:nvSpPr>
          <p:cNvPr id="6" name="Footer Placeholder 5">
            <a:extLst>
              <a:ext uri="{FF2B5EF4-FFF2-40B4-BE49-F238E27FC236}">
                <a16:creationId xmlns:a16="http://schemas.microsoft.com/office/drawing/2014/main" id="{645F5F62-3D75-BCCD-B2DB-7D54196B4F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3F42BB-614D-65EC-E5DA-6E452CBB6A79}"/>
              </a:ext>
            </a:extLst>
          </p:cNvPr>
          <p:cNvSpPr>
            <a:spLocks noGrp="1"/>
          </p:cNvSpPr>
          <p:nvPr>
            <p:ph type="sldNum" sz="quarter" idx="12"/>
          </p:nvPr>
        </p:nvSpPr>
        <p:spPr/>
        <p:txBody>
          <a:bodyPr/>
          <a:lstStyle/>
          <a:p>
            <a:fld id="{526843E1-9C46-4262-9806-B62F7948583A}" type="slidenum">
              <a:rPr lang="en-IN" smtClean="0"/>
              <a:t>‹#›</a:t>
            </a:fld>
            <a:endParaRPr lang="en-IN"/>
          </a:p>
        </p:txBody>
      </p:sp>
    </p:spTree>
    <p:extLst>
      <p:ext uri="{BB962C8B-B14F-4D97-AF65-F5344CB8AC3E}">
        <p14:creationId xmlns:p14="http://schemas.microsoft.com/office/powerpoint/2010/main" val="4217051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46259-6F5C-DE27-849D-83C4E55A438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EBCE64-30E8-030A-48D3-8A64DB89AC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D511C6-39FC-BCA6-A9D5-1DC8E876D09B}"/>
              </a:ext>
            </a:extLst>
          </p:cNvPr>
          <p:cNvSpPr>
            <a:spLocks noGrp="1"/>
          </p:cNvSpPr>
          <p:nvPr>
            <p:ph type="dt" sz="half" idx="10"/>
          </p:nvPr>
        </p:nvSpPr>
        <p:spPr/>
        <p:txBody>
          <a:bodyPr/>
          <a:lstStyle/>
          <a:p>
            <a:fld id="{1FC3EC1D-0274-4F91-BCFA-51464AE27429}" type="datetimeFigureOut">
              <a:rPr lang="en-IN" smtClean="0"/>
              <a:t>22-04-2025</a:t>
            </a:fld>
            <a:endParaRPr lang="en-IN"/>
          </a:p>
        </p:txBody>
      </p:sp>
      <p:sp>
        <p:nvSpPr>
          <p:cNvPr id="5" name="Footer Placeholder 4">
            <a:extLst>
              <a:ext uri="{FF2B5EF4-FFF2-40B4-BE49-F238E27FC236}">
                <a16:creationId xmlns:a16="http://schemas.microsoft.com/office/drawing/2014/main" id="{A55E3619-79D6-BED6-FCA5-BDA7A170F2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4CFD06-1EEA-C263-B4E4-2B97B185FEFB}"/>
              </a:ext>
            </a:extLst>
          </p:cNvPr>
          <p:cNvSpPr>
            <a:spLocks noGrp="1"/>
          </p:cNvSpPr>
          <p:nvPr>
            <p:ph type="sldNum" sz="quarter" idx="12"/>
          </p:nvPr>
        </p:nvSpPr>
        <p:spPr/>
        <p:txBody>
          <a:bodyPr/>
          <a:lstStyle/>
          <a:p>
            <a:fld id="{526843E1-9C46-4262-9806-B62F7948583A}" type="slidenum">
              <a:rPr lang="en-IN" smtClean="0"/>
              <a:t>‹#›</a:t>
            </a:fld>
            <a:endParaRPr lang="en-IN"/>
          </a:p>
        </p:txBody>
      </p:sp>
    </p:spTree>
    <p:extLst>
      <p:ext uri="{BB962C8B-B14F-4D97-AF65-F5344CB8AC3E}">
        <p14:creationId xmlns:p14="http://schemas.microsoft.com/office/powerpoint/2010/main" val="2295438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2A1FD9-A26E-FF4C-69AA-2D5B99CB39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54FCA4-2EB5-5FCE-770D-9AF4AF4B62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1CE354-A2D0-4788-9CF3-ACA3266C99DD}"/>
              </a:ext>
            </a:extLst>
          </p:cNvPr>
          <p:cNvSpPr>
            <a:spLocks noGrp="1"/>
          </p:cNvSpPr>
          <p:nvPr>
            <p:ph type="dt" sz="half" idx="10"/>
          </p:nvPr>
        </p:nvSpPr>
        <p:spPr/>
        <p:txBody>
          <a:bodyPr/>
          <a:lstStyle/>
          <a:p>
            <a:fld id="{1FC3EC1D-0274-4F91-BCFA-51464AE27429}" type="datetimeFigureOut">
              <a:rPr lang="en-IN" smtClean="0"/>
              <a:t>22-04-2025</a:t>
            </a:fld>
            <a:endParaRPr lang="en-IN"/>
          </a:p>
        </p:txBody>
      </p:sp>
      <p:sp>
        <p:nvSpPr>
          <p:cNvPr id="5" name="Footer Placeholder 4">
            <a:extLst>
              <a:ext uri="{FF2B5EF4-FFF2-40B4-BE49-F238E27FC236}">
                <a16:creationId xmlns:a16="http://schemas.microsoft.com/office/drawing/2014/main" id="{68F62CC9-B397-5377-A0F5-AA00B24758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BCF936-BAA1-3D21-9CBE-1D3465DC750A}"/>
              </a:ext>
            </a:extLst>
          </p:cNvPr>
          <p:cNvSpPr>
            <a:spLocks noGrp="1"/>
          </p:cNvSpPr>
          <p:nvPr>
            <p:ph type="sldNum" sz="quarter" idx="12"/>
          </p:nvPr>
        </p:nvSpPr>
        <p:spPr/>
        <p:txBody>
          <a:bodyPr/>
          <a:lstStyle/>
          <a:p>
            <a:fld id="{526843E1-9C46-4262-9806-B62F7948583A}" type="slidenum">
              <a:rPr lang="en-IN" smtClean="0"/>
              <a:t>‹#›</a:t>
            </a:fld>
            <a:endParaRPr lang="en-IN"/>
          </a:p>
        </p:txBody>
      </p:sp>
    </p:spTree>
    <p:extLst>
      <p:ext uri="{BB962C8B-B14F-4D97-AF65-F5344CB8AC3E}">
        <p14:creationId xmlns:p14="http://schemas.microsoft.com/office/powerpoint/2010/main" val="3850264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73DB01-47A9-7890-6549-564F302DCB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F394CE-2DD1-C91F-3AD4-CB000B1699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766BD2-D425-5F84-71BD-4FD79E6FE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C3EC1D-0274-4F91-BCFA-51464AE27429}" type="datetimeFigureOut">
              <a:rPr lang="en-IN" smtClean="0"/>
              <a:t>22-04-2025</a:t>
            </a:fld>
            <a:endParaRPr lang="en-IN"/>
          </a:p>
        </p:txBody>
      </p:sp>
      <p:sp>
        <p:nvSpPr>
          <p:cNvPr id="5" name="Footer Placeholder 4">
            <a:extLst>
              <a:ext uri="{FF2B5EF4-FFF2-40B4-BE49-F238E27FC236}">
                <a16:creationId xmlns:a16="http://schemas.microsoft.com/office/drawing/2014/main" id="{E61EDF7E-77FC-CD54-6B90-51B5603ACF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D91BBD6-A7AB-955A-7C10-D47419A967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6843E1-9C46-4262-9806-B62F7948583A}" type="slidenum">
              <a:rPr lang="en-IN" smtClean="0"/>
              <a:t>‹#›</a:t>
            </a:fld>
            <a:endParaRPr lang="en-IN"/>
          </a:p>
        </p:txBody>
      </p:sp>
    </p:spTree>
    <p:extLst>
      <p:ext uri="{BB962C8B-B14F-4D97-AF65-F5344CB8AC3E}">
        <p14:creationId xmlns:p14="http://schemas.microsoft.com/office/powerpoint/2010/main" val="8864861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researchgate.net/publication/380545048_Anomaly_Detection_of_CAN_Bus_Messages_Using_a_Deep_Neural_Network_for_Autonomous_Vehicles?_tp=eyJjb250ZXh0Ijp7ImZpcnN0UGFnZSI6InB1YmxpY2F0aW9uIiwicGFnZSI6InB1YmxpY2F0aW9uIn19" TargetMode="External"/><Relationship Id="rId2" Type="http://schemas.openxmlformats.org/officeDocument/2006/relationships/hyperlink" Target="https://www.researchgate.net/publication/383901284_Unsupervised_Anomaly_Detection_for_Automotive_CAN_Bus_on_the_Intel_Loihi" TargetMode="External"/><Relationship Id="rId1" Type="http://schemas.openxmlformats.org/officeDocument/2006/relationships/slideLayout" Target="../slideLayouts/slideLayout2.xml"/><Relationship Id="rId4" Type="http://schemas.openxmlformats.org/officeDocument/2006/relationships/hyperlink" Target="https://dr.lib.iastate.edu/server/api/core/bitstreams/6420dc37-5084-4b25-bbb2-d7bf14419616/conten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E7CAA-E112-6C42-66EE-BD003E84E3D8}"/>
              </a:ext>
            </a:extLst>
          </p:cNvPr>
          <p:cNvSpPr>
            <a:spLocks noGrp="1"/>
          </p:cNvSpPr>
          <p:nvPr>
            <p:ph type="ctrTitle"/>
          </p:nvPr>
        </p:nvSpPr>
        <p:spPr>
          <a:xfrm>
            <a:off x="1415844" y="920025"/>
            <a:ext cx="9144000" cy="2387600"/>
          </a:xfrm>
        </p:spPr>
        <p:txBody>
          <a:bodyPr/>
          <a:lstStyle/>
          <a:p>
            <a:r>
              <a:rPr lang="en-US" dirty="0">
                <a:latin typeface="Times New Roman" panose="02020603050405020304" pitchFamily="18" charset="0"/>
                <a:cs typeface="Times New Roman" panose="02020603050405020304" pitchFamily="18" charset="0"/>
              </a:rPr>
              <a:t>Machine Learning Vigilance        for CAN Bus</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99510CE-A915-B900-7BAA-F4C9334E5BAD}"/>
              </a:ext>
            </a:extLst>
          </p:cNvPr>
          <p:cNvSpPr>
            <a:spLocks noGrp="1"/>
          </p:cNvSpPr>
          <p:nvPr>
            <p:ph type="subTitle" idx="1"/>
          </p:nvPr>
        </p:nvSpPr>
        <p:spPr>
          <a:xfrm>
            <a:off x="1897625" y="3550376"/>
            <a:ext cx="8549147" cy="1023486"/>
          </a:xfrm>
        </p:spPr>
        <p:txBody>
          <a:bodyPr/>
          <a:lstStyle/>
          <a:p>
            <a:r>
              <a:rPr lang="en-US" dirty="0">
                <a:latin typeface="Times New Roman" panose="02020603050405020304" pitchFamily="18" charset="0"/>
                <a:cs typeface="Times New Roman" panose="02020603050405020304" pitchFamily="18" charset="0"/>
              </a:rPr>
              <a:t>Real-Time Anomaly Detection for CAN Bus Protection for Enhanced Automotive Cybersecurity </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BB4D831-9B23-111B-95BE-4914E6A83A15}"/>
              </a:ext>
            </a:extLst>
          </p:cNvPr>
          <p:cNvSpPr txBox="1"/>
          <p:nvPr/>
        </p:nvSpPr>
        <p:spPr>
          <a:xfrm>
            <a:off x="9281652" y="4945625"/>
            <a:ext cx="2910348"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Team Name : CAN Vigilance</a:t>
            </a:r>
          </a:p>
          <a:p>
            <a:r>
              <a:rPr lang="en-IN" dirty="0">
                <a:latin typeface="Times New Roman" panose="02020603050405020304" pitchFamily="18" charset="0"/>
                <a:cs typeface="Times New Roman" panose="02020603050405020304" pitchFamily="18" charset="0"/>
              </a:rPr>
              <a:t>2200049004</a:t>
            </a:r>
          </a:p>
          <a:p>
            <a:r>
              <a:rPr lang="en-IN" dirty="0">
                <a:latin typeface="Times New Roman" panose="02020603050405020304" pitchFamily="18" charset="0"/>
                <a:cs typeface="Times New Roman" panose="02020603050405020304" pitchFamily="18" charset="0"/>
              </a:rPr>
              <a:t>2200049010</a:t>
            </a:r>
          </a:p>
          <a:p>
            <a:r>
              <a:rPr lang="en-IN" dirty="0">
                <a:latin typeface="Times New Roman" panose="02020603050405020304" pitchFamily="18" charset="0"/>
                <a:cs typeface="Times New Roman" panose="02020603050405020304" pitchFamily="18" charset="0"/>
              </a:rPr>
              <a:t>2200049137</a:t>
            </a:r>
          </a:p>
          <a:p>
            <a:r>
              <a:rPr lang="en-IN" dirty="0">
                <a:latin typeface="Times New Roman" panose="02020603050405020304" pitchFamily="18" charset="0"/>
                <a:cs typeface="Times New Roman" panose="02020603050405020304" pitchFamily="18" charset="0"/>
              </a:rPr>
              <a:t>220004914</a:t>
            </a:r>
            <a:r>
              <a:rPr lang="en-IN" dirty="0"/>
              <a:t>3</a:t>
            </a:r>
          </a:p>
        </p:txBody>
      </p:sp>
      <p:sp>
        <p:nvSpPr>
          <p:cNvPr id="9" name="TextBox 8">
            <a:extLst>
              <a:ext uri="{FF2B5EF4-FFF2-40B4-BE49-F238E27FC236}">
                <a16:creationId xmlns:a16="http://schemas.microsoft.com/office/drawing/2014/main" id="{3D98EF74-F413-FF05-321B-371B29D4B9BD}"/>
              </a:ext>
            </a:extLst>
          </p:cNvPr>
          <p:cNvSpPr txBox="1"/>
          <p:nvPr/>
        </p:nvSpPr>
        <p:spPr>
          <a:xfrm>
            <a:off x="658761" y="255639"/>
            <a:ext cx="1818968" cy="369332"/>
          </a:xfrm>
          <a:prstGeom prst="rect">
            <a:avLst/>
          </a:prstGeom>
          <a:noFill/>
        </p:spPr>
        <p:txBody>
          <a:bodyPr wrap="square" rtlCol="0">
            <a:spAutoFit/>
          </a:bodyPr>
          <a:lstStyle/>
          <a:p>
            <a:r>
              <a:rPr lang="en-IN" dirty="0"/>
              <a:t> KPIT K-Impact </a:t>
            </a:r>
          </a:p>
        </p:txBody>
      </p:sp>
    </p:spTree>
    <p:extLst>
      <p:ext uri="{BB962C8B-B14F-4D97-AF65-F5344CB8AC3E}">
        <p14:creationId xmlns:p14="http://schemas.microsoft.com/office/powerpoint/2010/main" val="334303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E23E9-3543-D244-ED73-3EF3476FBF31}"/>
              </a:ext>
            </a:extLst>
          </p:cNvPr>
          <p:cNvSpPr>
            <a:spLocks noGrp="1"/>
          </p:cNvSpPr>
          <p:nvPr>
            <p:ph type="title"/>
          </p:nvPr>
        </p:nvSpPr>
        <p:spPr>
          <a:xfrm>
            <a:off x="317091" y="105670"/>
            <a:ext cx="10515600" cy="1081088"/>
          </a:xfrm>
        </p:spPr>
        <p:txBody>
          <a:bodyPr/>
          <a:lstStyle/>
          <a:p>
            <a:r>
              <a:rPr lang="en-US" sz="4400" b="1" dirty="0">
                <a:solidFill>
                  <a:srgbClr val="101014"/>
                </a:solidFill>
                <a:latin typeface="Times New Roman" panose="02020603050405020304" pitchFamily="18" charset="0"/>
                <a:ea typeface="Playfair Display Bold" pitchFamily="34" charset="-122"/>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F88BC74-4AE0-512E-81EE-82524ECF38F8}"/>
              </a:ext>
            </a:extLst>
          </p:cNvPr>
          <p:cNvSpPr>
            <a:spLocks noGrp="1" noChangeArrowheads="1"/>
          </p:cNvSpPr>
          <p:nvPr>
            <p:ph idx="1"/>
          </p:nvPr>
        </p:nvSpPr>
        <p:spPr bwMode="auto">
          <a:xfrm>
            <a:off x="317091" y="1115390"/>
            <a:ext cx="11144378"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Increasing Connectivity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Modern vehicles are becoming more connected, enabling advanced features and over-the-air updates.</a:t>
            </a:r>
          </a:p>
          <a:p>
            <a:pPr eaLnBrk="0" fontAlgn="base" hangingPunct="0">
              <a:lnSpc>
                <a:spcPct val="100000"/>
              </a:lnSpc>
              <a:spcBef>
                <a:spcPct val="0"/>
              </a:spcBef>
              <a:spcAft>
                <a:spcPct val="0"/>
              </a:spcAft>
              <a:buFont typeface="Wingdings" panose="05000000000000000000" pitchFamily="2" charset="2"/>
              <a:buChar char="§"/>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Vulnerability of CAN Bus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Controller Area Network (CAN) bus, which connects critical Electronic Control Units (ECUs) in the vehicle, lacks built-in security features like encryption, message authentication, or access control.</a:t>
            </a:r>
          </a:p>
          <a:p>
            <a:pPr mar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Cyberattack Risks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Due to this lack of security, the CAN bus is vulnerable to various cyberattacks such as:</a:t>
            </a:r>
          </a:p>
          <a:p>
            <a:pPr marL="0" indent="0"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Spoofing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Malicious messages pretending to come from legitimate ECUs.</a:t>
            </a:r>
          </a:p>
          <a:p>
            <a:pPr marL="0" indent="0"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Replay Attacks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Unauthorized retransmission of recorded messages</a:t>
            </a:r>
          </a:p>
          <a:p>
            <a:pPr marL="0" indent="0"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Denial-of-Service (DoS)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Flooding the bus with excessive traffic, causing system failure.</a:t>
            </a:r>
          </a:p>
          <a:p>
            <a:pPr marL="0" indent="0"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Fuzzing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Injecting malformed data to exploit vulnerabilities in ECUs.</a:t>
            </a:r>
          </a:p>
          <a:p>
            <a:pPr mar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Potential Impact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successful cyberattack on the CAN bus can lead to severe consequences, including            unintended acceleration, disabling safety systems (like airbags or brakes), or disrupting vehicle                              control systems, endangering both the vehicle occupants and other road users.</a:t>
            </a:r>
          </a:p>
          <a:p>
            <a:pPr mar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Solution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There is an urgent need for a robust, real-time anomaly detection system to monitor and protect the CAN bus from such malicious attacks to ensure vehicle safety and cybersecurity.</a:t>
            </a:r>
          </a:p>
        </p:txBody>
      </p:sp>
    </p:spTree>
    <p:extLst>
      <p:ext uri="{BB962C8B-B14F-4D97-AF65-F5344CB8AC3E}">
        <p14:creationId xmlns:p14="http://schemas.microsoft.com/office/powerpoint/2010/main" val="3116295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863DD-BD87-17C1-8D6D-D38B46F9B117}"/>
              </a:ext>
            </a:extLst>
          </p:cNvPr>
          <p:cNvSpPr>
            <a:spLocks noGrp="1"/>
          </p:cNvSpPr>
          <p:nvPr>
            <p:ph type="title"/>
          </p:nvPr>
        </p:nvSpPr>
        <p:spPr>
          <a:xfrm>
            <a:off x="228600" y="240890"/>
            <a:ext cx="10515600" cy="1325563"/>
          </a:xfrm>
        </p:spPr>
        <p:txBody>
          <a:bodyPr/>
          <a:lstStyle/>
          <a:p>
            <a:r>
              <a:rPr lang="en-IN" dirty="0">
                <a:latin typeface="Times New Roman" panose="02020603050405020304" pitchFamily="18" charset="0"/>
                <a:cs typeface="Times New Roman" panose="02020603050405020304" pitchFamily="18" charset="0"/>
              </a:rPr>
              <a:t>Objective </a:t>
            </a:r>
          </a:p>
        </p:txBody>
      </p:sp>
      <p:sp>
        <p:nvSpPr>
          <p:cNvPr id="3" name="Content Placeholder 2">
            <a:extLst>
              <a:ext uri="{FF2B5EF4-FFF2-40B4-BE49-F238E27FC236}">
                <a16:creationId xmlns:a16="http://schemas.microsoft.com/office/drawing/2014/main" id="{7A9A4F6D-1289-0325-FBAF-1634DE1ABCBB}"/>
              </a:ext>
            </a:extLst>
          </p:cNvPr>
          <p:cNvSpPr>
            <a:spLocks noGrp="1"/>
          </p:cNvSpPr>
          <p:nvPr>
            <p:ph idx="1"/>
          </p:nvPr>
        </p:nvSpPr>
        <p:spPr>
          <a:xfrm>
            <a:off x="838200" y="1412670"/>
            <a:ext cx="10515600" cy="5204440"/>
          </a:xfrm>
        </p:spPr>
        <p:txBody>
          <a:bodyPr>
            <a:noAutofit/>
          </a:bodyPr>
          <a:lstStyle/>
          <a:p>
            <a:pPr marL="0" indent="0">
              <a:lnSpc>
                <a:spcPct val="120000"/>
              </a:lnSpc>
              <a:buNone/>
            </a:pPr>
            <a:r>
              <a:rPr lang="en-US" sz="2000" dirty="0">
                <a:latin typeface="Times New Roman" panose="02020603050405020304" pitchFamily="18" charset="0"/>
                <a:cs typeface="Times New Roman" panose="02020603050405020304" pitchFamily="18" charset="0"/>
              </a:rPr>
              <a:t>To develop a Real-Time Anomaly Detection System for the CAN bus in vehicles, leveraging Machine Learning (ML) techniques to enhance automotive cybersecurity. This system aims to continuously monitor CAN bus traffic, analyzing messages exchanged between Electronic Control Units (ECUs) to detect any unusual patterns or behaviors that could indicate a potential cyberattack. By training an ML model on normal vehicle communication data, the system will establish a baseline of legitimate CAN bus traffic, allowing it to identify anomalies in real time. The project will focus on detecting various types of attacks, including </a:t>
            </a:r>
            <a:r>
              <a:rPr lang="en-US" sz="2000" b="1" dirty="0">
                <a:latin typeface="Times New Roman" panose="02020603050405020304" pitchFamily="18" charset="0"/>
                <a:cs typeface="Times New Roman" panose="02020603050405020304" pitchFamily="18" charset="0"/>
              </a:rPr>
              <a:t>spoofing</a:t>
            </a:r>
            <a:r>
              <a:rPr lang="en-US" sz="2000" dirty="0">
                <a:latin typeface="Times New Roman" panose="02020603050405020304" pitchFamily="18" charset="0"/>
                <a:cs typeface="Times New Roman" panose="02020603050405020304" pitchFamily="18" charset="0"/>
              </a:rPr>
              <a:t>, where malicious messages appear to come from legitimate ECUs; </a:t>
            </a:r>
            <a:r>
              <a:rPr lang="en-US" sz="2000" b="1" dirty="0">
                <a:latin typeface="Times New Roman" panose="02020603050405020304" pitchFamily="18" charset="0"/>
                <a:cs typeface="Times New Roman" panose="02020603050405020304" pitchFamily="18" charset="0"/>
              </a:rPr>
              <a:t>replay attacks</a:t>
            </a:r>
            <a:r>
              <a:rPr lang="en-US" sz="2000" dirty="0">
                <a:latin typeface="Times New Roman" panose="02020603050405020304" pitchFamily="18" charset="0"/>
                <a:cs typeface="Times New Roman" panose="02020603050405020304" pitchFamily="18" charset="0"/>
              </a:rPr>
              <a:t>, involving unauthorized retransmission of recorded messages; </a:t>
            </a:r>
            <a:r>
              <a:rPr lang="en-US" sz="2000" b="1" dirty="0">
                <a:latin typeface="Times New Roman" panose="02020603050405020304" pitchFamily="18" charset="0"/>
                <a:cs typeface="Times New Roman" panose="02020603050405020304" pitchFamily="18" charset="0"/>
              </a:rPr>
              <a:t>Denial-of-Service (DoS)</a:t>
            </a:r>
            <a:r>
              <a:rPr lang="en-US" sz="2000" dirty="0">
                <a:latin typeface="Times New Roman" panose="02020603050405020304" pitchFamily="18" charset="0"/>
                <a:cs typeface="Times New Roman" panose="02020603050405020304" pitchFamily="18" charset="0"/>
              </a:rPr>
              <a:t> attacks, which flood the bus with excessive traffic; and </a:t>
            </a:r>
            <a:r>
              <a:rPr lang="en-US" sz="2000" b="1" dirty="0">
                <a:latin typeface="Times New Roman" panose="02020603050405020304" pitchFamily="18" charset="0"/>
                <a:cs typeface="Times New Roman" panose="02020603050405020304" pitchFamily="18" charset="0"/>
              </a:rPr>
              <a:t>fuzzing</a:t>
            </a:r>
            <a:r>
              <a:rPr lang="en-US" sz="2000" dirty="0">
                <a:latin typeface="Times New Roman" panose="02020603050405020304" pitchFamily="18" charset="0"/>
                <a:cs typeface="Times New Roman" panose="02020603050405020304" pitchFamily="18" charset="0"/>
              </a:rPr>
              <a:t>, which involves injecting malformed or random data to discover vulnerabilities. Upon detecting anomalies, the system will trigger immediate alerts or corrective actions to prevent vehicle malfunctions or safety risks. Additionally, the system will be designed to adapt to new data and evolving attack strategies, ensuring continuous and reliable protection against emerging threats.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6725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EB0C-70DC-FE6C-4E08-E6F6700B651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Block Diagram</a:t>
            </a:r>
          </a:p>
        </p:txBody>
      </p:sp>
      <p:sp>
        <p:nvSpPr>
          <p:cNvPr id="13" name="Rectangle 12">
            <a:extLst>
              <a:ext uri="{FF2B5EF4-FFF2-40B4-BE49-F238E27FC236}">
                <a16:creationId xmlns:a16="http://schemas.microsoft.com/office/drawing/2014/main" id="{229849A4-CD57-80BF-DEC2-5B57B817AF97}"/>
              </a:ext>
            </a:extLst>
          </p:cNvPr>
          <p:cNvSpPr/>
          <p:nvPr/>
        </p:nvSpPr>
        <p:spPr>
          <a:xfrm>
            <a:off x="216309" y="2939845"/>
            <a:ext cx="1445343" cy="12093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a:t>Vehicle CAN Bus</a:t>
            </a:r>
          </a:p>
        </p:txBody>
      </p:sp>
      <p:sp>
        <p:nvSpPr>
          <p:cNvPr id="17" name="Arrow: Right 16">
            <a:extLst>
              <a:ext uri="{FF2B5EF4-FFF2-40B4-BE49-F238E27FC236}">
                <a16:creationId xmlns:a16="http://schemas.microsoft.com/office/drawing/2014/main" id="{51B48D10-B518-E500-7B2F-9C029CCBE349}"/>
              </a:ext>
            </a:extLst>
          </p:cNvPr>
          <p:cNvSpPr/>
          <p:nvPr/>
        </p:nvSpPr>
        <p:spPr>
          <a:xfrm>
            <a:off x="1917290" y="3429000"/>
            <a:ext cx="570271" cy="2286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E4C96084-8A4A-C839-0F71-F371364922F9}"/>
              </a:ext>
            </a:extLst>
          </p:cNvPr>
          <p:cNvSpPr/>
          <p:nvPr/>
        </p:nvSpPr>
        <p:spPr>
          <a:xfrm>
            <a:off x="2689121" y="2938616"/>
            <a:ext cx="1632156" cy="12093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CAN Sniffer Hardware</a:t>
            </a:r>
          </a:p>
        </p:txBody>
      </p:sp>
      <p:sp>
        <p:nvSpPr>
          <p:cNvPr id="19" name="Rectangle 18">
            <a:extLst>
              <a:ext uri="{FF2B5EF4-FFF2-40B4-BE49-F238E27FC236}">
                <a16:creationId xmlns:a16="http://schemas.microsoft.com/office/drawing/2014/main" id="{88B1A1A5-1605-FF8A-446B-624FE54CCA7B}"/>
              </a:ext>
            </a:extLst>
          </p:cNvPr>
          <p:cNvSpPr/>
          <p:nvPr/>
        </p:nvSpPr>
        <p:spPr>
          <a:xfrm>
            <a:off x="5333997" y="2938616"/>
            <a:ext cx="1632156" cy="12093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Data Preprocessing</a:t>
            </a:r>
          </a:p>
        </p:txBody>
      </p:sp>
      <p:sp>
        <p:nvSpPr>
          <p:cNvPr id="20" name="Rectangle 19">
            <a:extLst>
              <a:ext uri="{FF2B5EF4-FFF2-40B4-BE49-F238E27FC236}">
                <a16:creationId xmlns:a16="http://schemas.microsoft.com/office/drawing/2014/main" id="{5BE80DCE-75EA-FD3D-DCF8-1DF634E19087}"/>
              </a:ext>
            </a:extLst>
          </p:cNvPr>
          <p:cNvSpPr/>
          <p:nvPr/>
        </p:nvSpPr>
        <p:spPr>
          <a:xfrm>
            <a:off x="10515599" y="2938616"/>
            <a:ext cx="1538749" cy="12093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Anomaly Detection &amp; Alert</a:t>
            </a:r>
          </a:p>
        </p:txBody>
      </p:sp>
      <p:sp>
        <p:nvSpPr>
          <p:cNvPr id="21" name="Rectangle 20">
            <a:extLst>
              <a:ext uri="{FF2B5EF4-FFF2-40B4-BE49-F238E27FC236}">
                <a16:creationId xmlns:a16="http://schemas.microsoft.com/office/drawing/2014/main" id="{541DDC5E-9F24-15F6-69B0-E4F6F6042D8A}"/>
              </a:ext>
            </a:extLst>
          </p:cNvPr>
          <p:cNvSpPr/>
          <p:nvPr/>
        </p:nvSpPr>
        <p:spPr>
          <a:xfrm>
            <a:off x="7978873" y="2938616"/>
            <a:ext cx="1524006" cy="12093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ML Model</a:t>
            </a:r>
          </a:p>
        </p:txBody>
      </p:sp>
      <p:sp>
        <p:nvSpPr>
          <p:cNvPr id="22" name="Arrow: Right 21">
            <a:extLst>
              <a:ext uri="{FF2B5EF4-FFF2-40B4-BE49-F238E27FC236}">
                <a16:creationId xmlns:a16="http://schemas.microsoft.com/office/drawing/2014/main" id="{D78B9589-F416-EDF7-DC00-E8EEEC8D562D}"/>
              </a:ext>
            </a:extLst>
          </p:cNvPr>
          <p:cNvSpPr/>
          <p:nvPr/>
        </p:nvSpPr>
        <p:spPr>
          <a:xfrm>
            <a:off x="4522837" y="3429000"/>
            <a:ext cx="570271" cy="2286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3" name="Arrow: Right 22">
            <a:extLst>
              <a:ext uri="{FF2B5EF4-FFF2-40B4-BE49-F238E27FC236}">
                <a16:creationId xmlns:a16="http://schemas.microsoft.com/office/drawing/2014/main" id="{2F79A5A2-B665-6F47-1C32-C1D217A6437E}"/>
              </a:ext>
            </a:extLst>
          </p:cNvPr>
          <p:cNvSpPr/>
          <p:nvPr/>
        </p:nvSpPr>
        <p:spPr>
          <a:xfrm>
            <a:off x="7207042" y="3494139"/>
            <a:ext cx="570271" cy="2286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4" name="Arrow: Right 23">
            <a:extLst>
              <a:ext uri="{FF2B5EF4-FFF2-40B4-BE49-F238E27FC236}">
                <a16:creationId xmlns:a16="http://schemas.microsoft.com/office/drawing/2014/main" id="{7E5C7D22-1245-8FD3-DB61-AA94F906B5DE}"/>
              </a:ext>
            </a:extLst>
          </p:cNvPr>
          <p:cNvSpPr/>
          <p:nvPr/>
        </p:nvSpPr>
        <p:spPr>
          <a:xfrm>
            <a:off x="9704439" y="3429000"/>
            <a:ext cx="570271" cy="2286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72848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E7847-2D5B-A28A-46BD-FFB851347BAF}"/>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1540DFCF-4EFF-9D44-58A9-F45B67BDB0B9}"/>
              </a:ext>
            </a:extLst>
          </p:cNvPr>
          <p:cNvSpPr>
            <a:spLocks noGrp="1"/>
          </p:cNvSpPr>
          <p:nvPr>
            <p:ph idx="1"/>
          </p:nvPr>
        </p:nvSpPr>
        <p:spPr/>
        <p:txBody>
          <a:bodyPr>
            <a:normAutofit lnSpcReduction="10000"/>
          </a:bodyPr>
          <a:lstStyle/>
          <a:p>
            <a:r>
              <a:rPr lang="en-IN" dirty="0">
                <a:hlinkClick r:id="rId2"/>
              </a:rPr>
              <a:t>https://www.researchgate.net/publication/383901284_Unsupervised_Anomaly_Detection_for_Automotive_CAN_Bus_on_the_Intel_Loihi</a:t>
            </a:r>
            <a:endParaRPr lang="en-IN" dirty="0"/>
          </a:p>
          <a:p>
            <a:endParaRPr lang="en-IN" dirty="0"/>
          </a:p>
          <a:p>
            <a:r>
              <a:rPr lang="en-IN" dirty="0">
                <a:hlinkClick r:id="rId3"/>
              </a:rPr>
              <a:t>https://www.researchgate.net/publication/380545048_Anomaly_Detection_of_CAN_Bus_Messages_Using_a_Deep_Neural_Network_for_Autonomous_Vehicles?_tp=eyJjb250ZXh0Ijp7ImZpcnN0UGFnZSI6InB1YmxpY2F0aW9uIiwicGFnZSI6InB1YmxpY2F0aW9uIn19</a:t>
            </a:r>
            <a:endParaRPr lang="en-IN" dirty="0"/>
          </a:p>
          <a:p>
            <a:endParaRPr lang="en-IN" dirty="0"/>
          </a:p>
          <a:p>
            <a:r>
              <a:rPr lang="en-IN" dirty="0">
                <a:hlinkClick r:id="rId4"/>
              </a:rPr>
              <a:t>https://dr.lib.iastate.edu/server/api/core/bitstreams/6420dc37-5084-4b25-bbb2-d7bf14419616/content</a:t>
            </a:r>
            <a:endParaRPr lang="en-IN" dirty="0"/>
          </a:p>
          <a:p>
            <a:endParaRPr lang="en-IN" dirty="0"/>
          </a:p>
        </p:txBody>
      </p:sp>
    </p:spTree>
    <p:extLst>
      <p:ext uri="{BB962C8B-B14F-4D97-AF65-F5344CB8AC3E}">
        <p14:creationId xmlns:p14="http://schemas.microsoft.com/office/powerpoint/2010/main" val="476949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4BC631-593B-50F7-FADE-4C643AADAAF9}"/>
              </a:ext>
            </a:extLst>
          </p:cNvPr>
          <p:cNvSpPr>
            <a:spLocks noGrp="1"/>
          </p:cNvSpPr>
          <p:nvPr>
            <p:ph idx="1"/>
          </p:nvPr>
        </p:nvSpPr>
        <p:spPr>
          <a:xfrm>
            <a:off x="4043517" y="2680161"/>
            <a:ext cx="3674806" cy="1497678"/>
          </a:xfrm>
        </p:spPr>
        <p:txBody>
          <a:bodyPr>
            <a:normAutofit/>
          </a:bodyPr>
          <a:lstStyle/>
          <a:p>
            <a:pPr marL="0" indent="0">
              <a:buNone/>
            </a:pPr>
            <a:r>
              <a:rPr lang="en-IN" sz="54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7544705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557</Words>
  <Application>Microsoft Office PowerPoint</Application>
  <PresentationFormat>Widescreen</PresentationFormat>
  <Paragraphs>37</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Times New Roman</vt:lpstr>
      <vt:lpstr>Wingdings</vt:lpstr>
      <vt:lpstr>Office Theme</vt:lpstr>
      <vt:lpstr>Machine Learning Vigilance        for CAN Bus</vt:lpstr>
      <vt:lpstr>Introduction</vt:lpstr>
      <vt:lpstr>Objective </vt:lpstr>
      <vt:lpstr>Block Diagram</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RN Aditya</dc:creator>
  <cp:lastModifiedBy>RN Aditya</cp:lastModifiedBy>
  <cp:revision>1</cp:revision>
  <dcterms:created xsi:type="dcterms:W3CDTF">2025-04-22T17:32:18Z</dcterms:created>
  <dcterms:modified xsi:type="dcterms:W3CDTF">2025-04-22T17:39:53Z</dcterms:modified>
</cp:coreProperties>
</file>