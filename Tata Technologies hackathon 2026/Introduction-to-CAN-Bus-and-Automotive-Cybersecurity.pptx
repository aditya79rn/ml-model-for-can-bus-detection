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embeddedFontLst>
    <p:embeddedFont>
      <p:font typeface="Open Sans" panose="020B0606030504020204" pitchFamily="34"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28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1873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txBody>
          <a:bodyPr/>
          <a:lstStyle/>
          <a:p>
            <a:endParaRPr lang="en-US"/>
          </a:p>
        </p:txBody>
      </p:sp>
      <p:sp>
        <p:nvSpPr>
          <p:cNvPr id="3" name="Shape 1"/>
          <p:cNvSpPr/>
          <p:nvPr/>
        </p:nvSpPr>
        <p:spPr>
          <a:xfrm>
            <a:off x="0" y="0"/>
            <a:ext cx="14630400" cy="8229600"/>
          </a:xfrm>
          <a:prstGeom prst="rect">
            <a:avLst/>
          </a:prstGeom>
          <a:solidFill>
            <a:srgbClr val="F3F3F7"/>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510076"/>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101014"/>
                </a:solidFill>
                <a:latin typeface="Playfair Display Bold" pitchFamily="34" charset="0"/>
                <a:ea typeface="Playfair Display Bold" pitchFamily="34" charset="-122"/>
                <a:cs typeface="Playfair Display Bold" pitchFamily="34" charset="-120"/>
              </a:rPr>
              <a:t>Introduction to CAN Bus and Automotive Cybersecurity</a:t>
            </a:r>
            <a:endParaRPr lang="en-US" sz="4450" dirty="0"/>
          </a:p>
        </p:txBody>
      </p:sp>
      <p:sp>
        <p:nvSpPr>
          <p:cNvPr id="4" name="Text 1"/>
          <p:cNvSpPr/>
          <p:nvPr/>
        </p:nvSpPr>
        <p:spPr>
          <a:xfrm>
            <a:off x="6280190" y="4267795"/>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Controller Area Network (CAN) is the leading automotive communication network. It lacks inherent security, exposing vehicles to cyber risks. Attacks like the Jeep Cherokee hack (2015) highlight vulnerabilities and rising threats in automotive cybersecurity.</a:t>
            </a:r>
            <a:endParaRPr lang="en-US" sz="1750" dirty="0"/>
          </a:p>
        </p:txBody>
      </p:sp>
      <p:pic>
        <p:nvPicPr>
          <p:cNvPr id="6" name="Picture 5">
            <a:extLst>
              <a:ext uri="{FF2B5EF4-FFF2-40B4-BE49-F238E27FC236}">
                <a16:creationId xmlns:a16="http://schemas.microsoft.com/office/drawing/2014/main" id="{C339E616-6472-1EF4-FBF9-5F2EA3CAFEED}"/>
              </a:ext>
            </a:extLst>
          </p:cNvPr>
          <p:cNvPicPr>
            <a:picLocks noChangeAspect="1"/>
          </p:cNvPicPr>
          <p:nvPr/>
        </p:nvPicPr>
        <p:blipFill>
          <a:blip r:embed="rId4"/>
          <a:stretch>
            <a:fillRect/>
          </a:stretch>
        </p:blipFill>
        <p:spPr>
          <a:xfrm>
            <a:off x="12834210" y="7650974"/>
            <a:ext cx="1705213" cy="47631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84848" y="808077"/>
            <a:ext cx="7774305" cy="1223010"/>
          </a:xfrm>
          <a:prstGeom prst="rect">
            <a:avLst/>
          </a:prstGeom>
          <a:noFill/>
          <a:ln/>
        </p:spPr>
        <p:txBody>
          <a:bodyPr wrap="square" lIns="0" tIns="0" rIns="0" bIns="0" rtlCol="0" anchor="t"/>
          <a:lstStyle/>
          <a:p>
            <a:pPr marL="0" indent="0" algn="l">
              <a:lnSpc>
                <a:spcPts val="4800"/>
              </a:lnSpc>
              <a:buNone/>
            </a:pPr>
            <a:r>
              <a:rPr lang="en-US" sz="3850" b="1" dirty="0">
                <a:solidFill>
                  <a:srgbClr val="101014"/>
                </a:solidFill>
                <a:latin typeface="Playfair Display Bold" pitchFamily="34" charset="0"/>
                <a:ea typeface="Playfair Display Bold" pitchFamily="34" charset="-122"/>
                <a:cs typeface="Playfair Display Bold" pitchFamily="34" charset="-120"/>
              </a:rPr>
              <a:t>CAN Bus Data and Cybersecurity Threats</a:t>
            </a:r>
            <a:endParaRPr lang="en-US" sz="3850" dirty="0"/>
          </a:p>
        </p:txBody>
      </p:sp>
      <p:sp>
        <p:nvSpPr>
          <p:cNvPr id="4" name="Shape 1"/>
          <p:cNvSpPr/>
          <p:nvPr/>
        </p:nvSpPr>
        <p:spPr>
          <a:xfrm>
            <a:off x="684848" y="2324576"/>
            <a:ext cx="7774305" cy="1127522"/>
          </a:xfrm>
          <a:prstGeom prst="roundRect">
            <a:avLst>
              <a:gd name="adj" fmla="val 2603"/>
            </a:avLst>
          </a:prstGeom>
          <a:solidFill>
            <a:srgbClr val="E0E0EC"/>
          </a:solidFill>
          <a:ln/>
        </p:spPr>
        <p:txBody>
          <a:bodyPr/>
          <a:lstStyle/>
          <a:p>
            <a:endParaRPr lang="en-US"/>
          </a:p>
        </p:txBody>
      </p:sp>
      <p:sp>
        <p:nvSpPr>
          <p:cNvPr id="5" name="Text 2"/>
          <p:cNvSpPr/>
          <p:nvPr/>
        </p:nvSpPr>
        <p:spPr>
          <a:xfrm>
            <a:off x="880467" y="2520196"/>
            <a:ext cx="2446139" cy="305753"/>
          </a:xfrm>
          <a:prstGeom prst="rect">
            <a:avLst/>
          </a:prstGeom>
          <a:noFill/>
          <a:ln/>
        </p:spPr>
        <p:txBody>
          <a:bodyPr wrap="none" lIns="0" tIns="0" rIns="0" bIns="0" rtlCol="0" anchor="t"/>
          <a:lstStyle/>
          <a:p>
            <a:pPr marL="0" indent="0" algn="l">
              <a:lnSpc>
                <a:spcPts val="2400"/>
              </a:lnSpc>
              <a:buNone/>
            </a:pPr>
            <a:r>
              <a:rPr lang="en-US" sz="1900" b="1" dirty="0">
                <a:solidFill>
                  <a:srgbClr val="39393C"/>
                </a:solidFill>
                <a:latin typeface="Playfair Display Bold" pitchFamily="34" charset="0"/>
                <a:ea typeface="Playfair Display Bold" pitchFamily="34" charset="-122"/>
                <a:cs typeface="Playfair Display Bold" pitchFamily="34" charset="-120"/>
              </a:rPr>
              <a:t>Attack Vectors</a:t>
            </a:r>
            <a:endParaRPr lang="en-US" sz="1900" dirty="0"/>
          </a:p>
        </p:txBody>
      </p:sp>
      <p:sp>
        <p:nvSpPr>
          <p:cNvPr id="6" name="Text 3"/>
          <p:cNvSpPr/>
          <p:nvPr/>
        </p:nvSpPr>
        <p:spPr>
          <a:xfrm>
            <a:off x="880467" y="2943344"/>
            <a:ext cx="7383066" cy="313134"/>
          </a:xfrm>
          <a:prstGeom prst="rect">
            <a:avLst/>
          </a:prstGeom>
          <a:noFill/>
          <a:ln/>
        </p:spPr>
        <p:txBody>
          <a:bodyPr wrap="none" lIns="0" tIns="0" rIns="0" bIns="0" rtlCol="0" anchor="t"/>
          <a:lstStyle/>
          <a:p>
            <a:pPr marL="0" indent="0" algn="l">
              <a:lnSpc>
                <a:spcPts val="2450"/>
              </a:lnSpc>
              <a:buNone/>
            </a:pPr>
            <a:r>
              <a:rPr lang="en-US" sz="1500" dirty="0">
                <a:solidFill>
                  <a:srgbClr val="39393C"/>
                </a:solidFill>
                <a:latin typeface="Open Sans" pitchFamily="34" charset="0"/>
                <a:ea typeface="Open Sans" pitchFamily="34" charset="-122"/>
                <a:cs typeface="Open Sans" pitchFamily="34" charset="-120"/>
              </a:rPr>
              <a:t>Spoofing, replay attacks, and denial of service target CAN bus communications.</a:t>
            </a:r>
            <a:endParaRPr lang="en-US" sz="1500" dirty="0"/>
          </a:p>
        </p:txBody>
      </p:sp>
      <p:sp>
        <p:nvSpPr>
          <p:cNvPr id="7" name="Shape 4"/>
          <p:cNvSpPr/>
          <p:nvPr/>
        </p:nvSpPr>
        <p:spPr>
          <a:xfrm>
            <a:off x="684848" y="3647718"/>
            <a:ext cx="7774305" cy="1127522"/>
          </a:xfrm>
          <a:prstGeom prst="roundRect">
            <a:avLst>
              <a:gd name="adj" fmla="val 2603"/>
            </a:avLst>
          </a:prstGeom>
          <a:solidFill>
            <a:srgbClr val="E0E0EC"/>
          </a:solidFill>
          <a:ln/>
        </p:spPr>
        <p:txBody>
          <a:bodyPr/>
          <a:lstStyle/>
          <a:p>
            <a:endParaRPr lang="en-US"/>
          </a:p>
        </p:txBody>
      </p:sp>
      <p:sp>
        <p:nvSpPr>
          <p:cNvPr id="8" name="Text 5"/>
          <p:cNvSpPr/>
          <p:nvPr/>
        </p:nvSpPr>
        <p:spPr>
          <a:xfrm>
            <a:off x="880467" y="3843337"/>
            <a:ext cx="2446139" cy="305753"/>
          </a:xfrm>
          <a:prstGeom prst="rect">
            <a:avLst/>
          </a:prstGeom>
          <a:noFill/>
          <a:ln/>
        </p:spPr>
        <p:txBody>
          <a:bodyPr wrap="none" lIns="0" tIns="0" rIns="0" bIns="0" rtlCol="0" anchor="t"/>
          <a:lstStyle/>
          <a:p>
            <a:pPr marL="0" indent="0" algn="l">
              <a:lnSpc>
                <a:spcPts val="2400"/>
              </a:lnSpc>
              <a:buNone/>
            </a:pPr>
            <a:r>
              <a:rPr lang="en-US" sz="1900" b="1" dirty="0">
                <a:solidFill>
                  <a:srgbClr val="39393C"/>
                </a:solidFill>
                <a:latin typeface="Playfair Display Bold" pitchFamily="34" charset="0"/>
                <a:ea typeface="Playfair Display Bold" pitchFamily="34" charset="-122"/>
                <a:cs typeface="Playfair Display Bold" pitchFamily="34" charset="-120"/>
              </a:rPr>
              <a:t>Anomaly Types</a:t>
            </a:r>
            <a:endParaRPr lang="en-US" sz="1900" dirty="0"/>
          </a:p>
        </p:txBody>
      </p:sp>
      <p:sp>
        <p:nvSpPr>
          <p:cNvPr id="9" name="Text 6"/>
          <p:cNvSpPr/>
          <p:nvPr/>
        </p:nvSpPr>
        <p:spPr>
          <a:xfrm>
            <a:off x="880467" y="4266486"/>
            <a:ext cx="7383066" cy="313134"/>
          </a:xfrm>
          <a:prstGeom prst="rect">
            <a:avLst/>
          </a:prstGeom>
          <a:noFill/>
          <a:ln/>
        </p:spPr>
        <p:txBody>
          <a:bodyPr wrap="none" lIns="0" tIns="0" rIns="0" bIns="0" rtlCol="0" anchor="t"/>
          <a:lstStyle/>
          <a:p>
            <a:pPr marL="0" indent="0" algn="l">
              <a:lnSpc>
                <a:spcPts val="2450"/>
              </a:lnSpc>
              <a:buNone/>
            </a:pPr>
            <a:r>
              <a:rPr lang="en-US" sz="1500" dirty="0">
                <a:solidFill>
                  <a:srgbClr val="39393C"/>
                </a:solidFill>
                <a:latin typeface="Open Sans" pitchFamily="34" charset="0"/>
                <a:ea typeface="Open Sans" pitchFamily="34" charset="-122"/>
                <a:cs typeface="Open Sans" pitchFamily="34" charset="-120"/>
              </a:rPr>
              <a:t>Frequency irregularities, data range errors, and sequence disruptions.</a:t>
            </a:r>
            <a:endParaRPr lang="en-US" sz="1500" dirty="0"/>
          </a:p>
        </p:txBody>
      </p:sp>
      <p:sp>
        <p:nvSpPr>
          <p:cNvPr id="10" name="Shape 7"/>
          <p:cNvSpPr/>
          <p:nvPr/>
        </p:nvSpPr>
        <p:spPr>
          <a:xfrm>
            <a:off x="684848" y="4970859"/>
            <a:ext cx="7774305" cy="1127522"/>
          </a:xfrm>
          <a:prstGeom prst="roundRect">
            <a:avLst>
              <a:gd name="adj" fmla="val 2603"/>
            </a:avLst>
          </a:prstGeom>
          <a:solidFill>
            <a:srgbClr val="E0E0EC"/>
          </a:solidFill>
          <a:ln/>
        </p:spPr>
        <p:txBody>
          <a:bodyPr/>
          <a:lstStyle/>
          <a:p>
            <a:endParaRPr lang="en-US"/>
          </a:p>
        </p:txBody>
      </p:sp>
      <p:sp>
        <p:nvSpPr>
          <p:cNvPr id="11" name="Text 8"/>
          <p:cNvSpPr/>
          <p:nvPr/>
        </p:nvSpPr>
        <p:spPr>
          <a:xfrm>
            <a:off x="880467" y="5166479"/>
            <a:ext cx="2446139" cy="305753"/>
          </a:xfrm>
          <a:prstGeom prst="rect">
            <a:avLst/>
          </a:prstGeom>
          <a:noFill/>
          <a:ln/>
        </p:spPr>
        <p:txBody>
          <a:bodyPr wrap="none" lIns="0" tIns="0" rIns="0" bIns="0" rtlCol="0" anchor="t"/>
          <a:lstStyle/>
          <a:p>
            <a:pPr marL="0" indent="0" algn="l">
              <a:lnSpc>
                <a:spcPts val="2400"/>
              </a:lnSpc>
              <a:buNone/>
            </a:pPr>
            <a:r>
              <a:rPr lang="en-US" sz="1900" b="1" dirty="0">
                <a:solidFill>
                  <a:srgbClr val="39393C"/>
                </a:solidFill>
                <a:latin typeface="Playfair Display Bold" pitchFamily="34" charset="0"/>
                <a:ea typeface="Playfair Display Bold" pitchFamily="34" charset="-122"/>
                <a:cs typeface="Playfair Display Bold" pitchFamily="34" charset="-120"/>
              </a:rPr>
              <a:t>Regulations</a:t>
            </a:r>
            <a:endParaRPr lang="en-US" sz="1900" dirty="0"/>
          </a:p>
        </p:txBody>
      </p:sp>
      <p:sp>
        <p:nvSpPr>
          <p:cNvPr id="12" name="Text 9"/>
          <p:cNvSpPr/>
          <p:nvPr/>
        </p:nvSpPr>
        <p:spPr>
          <a:xfrm>
            <a:off x="880467" y="5589627"/>
            <a:ext cx="7383066" cy="313134"/>
          </a:xfrm>
          <a:prstGeom prst="rect">
            <a:avLst/>
          </a:prstGeom>
          <a:noFill/>
          <a:ln/>
        </p:spPr>
        <p:txBody>
          <a:bodyPr wrap="none" lIns="0" tIns="0" rIns="0" bIns="0" rtlCol="0" anchor="t"/>
          <a:lstStyle/>
          <a:p>
            <a:pPr marL="0" indent="0" algn="l">
              <a:lnSpc>
                <a:spcPts val="2450"/>
              </a:lnSpc>
              <a:buNone/>
            </a:pPr>
            <a:r>
              <a:rPr lang="en-US" sz="1500" dirty="0">
                <a:solidFill>
                  <a:srgbClr val="39393C"/>
                </a:solidFill>
                <a:latin typeface="Open Sans" pitchFamily="34" charset="0"/>
                <a:ea typeface="Open Sans" pitchFamily="34" charset="-122"/>
                <a:cs typeface="Open Sans" pitchFamily="34" charset="-120"/>
              </a:rPr>
              <a:t>UNECE WP.29 and ISO/SAE 21434 set automotive cybersecurity standards.</a:t>
            </a:r>
            <a:endParaRPr lang="en-US" sz="1500" dirty="0"/>
          </a:p>
        </p:txBody>
      </p:sp>
      <p:sp>
        <p:nvSpPr>
          <p:cNvPr id="13" name="Shape 10"/>
          <p:cNvSpPr/>
          <p:nvPr/>
        </p:nvSpPr>
        <p:spPr>
          <a:xfrm>
            <a:off x="684848" y="6294001"/>
            <a:ext cx="7774305" cy="1127522"/>
          </a:xfrm>
          <a:prstGeom prst="roundRect">
            <a:avLst>
              <a:gd name="adj" fmla="val 2603"/>
            </a:avLst>
          </a:prstGeom>
          <a:solidFill>
            <a:srgbClr val="E0E0EC"/>
          </a:solidFill>
          <a:ln/>
        </p:spPr>
        <p:txBody>
          <a:bodyPr/>
          <a:lstStyle/>
          <a:p>
            <a:endParaRPr lang="en-US"/>
          </a:p>
        </p:txBody>
      </p:sp>
      <p:sp>
        <p:nvSpPr>
          <p:cNvPr id="14" name="Text 11"/>
          <p:cNvSpPr/>
          <p:nvPr/>
        </p:nvSpPr>
        <p:spPr>
          <a:xfrm>
            <a:off x="880467" y="6489621"/>
            <a:ext cx="2446139" cy="305753"/>
          </a:xfrm>
          <a:prstGeom prst="rect">
            <a:avLst/>
          </a:prstGeom>
          <a:noFill/>
          <a:ln/>
        </p:spPr>
        <p:txBody>
          <a:bodyPr wrap="none" lIns="0" tIns="0" rIns="0" bIns="0" rtlCol="0" anchor="t"/>
          <a:lstStyle/>
          <a:p>
            <a:pPr marL="0" indent="0" algn="l">
              <a:lnSpc>
                <a:spcPts val="2400"/>
              </a:lnSpc>
              <a:buNone/>
            </a:pPr>
            <a:r>
              <a:rPr lang="en-US" sz="1900" b="1" dirty="0">
                <a:solidFill>
                  <a:srgbClr val="39393C"/>
                </a:solidFill>
                <a:latin typeface="Playfair Display Bold" pitchFamily="34" charset="0"/>
                <a:ea typeface="Playfair Display Bold" pitchFamily="34" charset="-122"/>
                <a:cs typeface="Playfair Display Bold" pitchFamily="34" charset="-120"/>
              </a:rPr>
              <a:t>Risks</a:t>
            </a:r>
            <a:endParaRPr lang="en-US" sz="1900" dirty="0"/>
          </a:p>
        </p:txBody>
      </p:sp>
      <p:sp>
        <p:nvSpPr>
          <p:cNvPr id="15" name="Text 12"/>
          <p:cNvSpPr/>
          <p:nvPr/>
        </p:nvSpPr>
        <p:spPr>
          <a:xfrm>
            <a:off x="880467" y="6912769"/>
            <a:ext cx="7383066" cy="313134"/>
          </a:xfrm>
          <a:prstGeom prst="rect">
            <a:avLst/>
          </a:prstGeom>
          <a:noFill/>
          <a:ln/>
        </p:spPr>
        <p:txBody>
          <a:bodyPr wrap="none" lIns="0" tIns="0" rIns="0" bIns="0" rtlCol="0" anchor="t"/>
          <a:lstStyle/>
          <a:p>
            <a:pPr marL="0" indent="0" algn="l">
              <a:lnSpc>
                <a:spcPts val="2450"/>
              </a:lnSpc>
              <a:buNone/>
            </a:pPr>
            <a:r>
              <a:rPr lang="en-US" sz="1500" dirty="0">
                <a:solidFill>
                  <a:srgbClr val="39393C"/>
                </a:solidFill>
                <a:latin typeface="Open Sans" pitchFamily="34" charset="0"/>
                <a:ea typeface="Open Sans" pitchFamily="34" charset="-122"/>
                <a:cs typeface="Open Sans" pitchFamily="34" charset="-120"/>
              </a:rPr>
              <a:t>Compromised vehicle control, safety system failures, and data breaches.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978700"/>
            <a:ext cx="11331059" cy="708779"/>
          </a:xfrm>
          <a:prstGeom prst="rect">
            <a:avLst/>
          </a:prstGeom>
          <a:noFill/>
          <a:ln/>
        </p:spPr>
        <p:txBody>
          <a:bodyPr wrap="none" lIns="0" tIns="0" rIns="0" bIns="0" rtlCol="0" anchor="t"/>
          <a:lstStyle/>
          <a:p>
            <a:pPr marL="0" indent="0" algn="l">
              <a:lnSpc>
                <a:spcPts val="5550"/>
              </a:lnSpc>
              <a:buNone/>
            </a:pPr>
            <a:r>
              <a:rPr lang="en-US" sz="4450" b="1" dirty="0">
                <a:solidFill>
                  <a:srgbClr val="101014"/>
                </a:solidFill>
                <a:latin typeface="Playfair Display Bold" pitchFamily="34" charset="0"/>
                <a:ea typeface="Playfair Display Bold" pitchFamily="34" charset="-122"/>
                <a:cs typeface="Playfair Display Bold" pitchFamily="34" charset="-120"/>
              </a:rPr>
              <a:t>ML-Based Anomaly Detection Methodology</a:t>
            </a:r>
            <a:endParaRPr lang="en-US" sz="4450" dirty="0"/>
          </a:p>
        </p:txBody>
      </p:sp>
      <p:sp>
        <p:nvSpPr>
          <p:cNvPr id="3" name="Text 1"/>
          <p:cNvSpPr/>
          <p:nvPr/>
        </p:nvSpPr>
        <p:spPr>
          <a:xfrm>
            <a:off x="793790" y="325445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101014"/>
                </a:solidFill>
                <a:latin typeface="Playfair Display Bold" pitchFamily="34" charset="0"/>
                <a:ea typeface="Playfair Display Bold" pitchFamily="34" charset="-122"/>
                <a:cs typeface="Playfair Display Bold" pitchFamily="34" charset="-120"/>
              </a:rPr>
              <a:t>Data &amp; Features</a:t>
            </a:r>
            <a:endParaRPr lang="en-US" sz="2200" dirty="0"/>
          </a:p>
        </p:txBody>
      </p:sp>
      <p:sp>
        <p:nvSpPr>
          <p:cNvPr id="4" name="Text 2"/>
          <p:cNvSpPr/>
          <p:nvPr/>
        </p:nvSpPr>
        <p:spPr>
          <a:xfrm>
            <a:off x="793790" y="3835598"/>
            <a:ext cx="3978116" cy="1088708"/>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Collect CAN logs. Engineer features like frequency, entropy, and ID patterns.</a:t>
            </a:r>
            <a:endParaRPr lang="en-US" sz="1750" dirty="0"/>
          </a:p>
        </p:txBody>
      </p:sp>
      <p:sp>
        <p:nvSpPr>
          <p:cNvPr id="5" name="Text 3"/>
          <p:cNvSpPr/>
          <p:nvPr/>
        </p:nvSpPr>
        <p:spPr>
          <a:xfrm>
            <a:off x="5332928" y="325445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101014"/>
                </a:solidFill>
                <a:latin typeface="Playfair Display Bold" pitchFamily="34" charset="0"/>
                <a:ea typeface="Playfair Display Bold" pitchFamily="34" charset="-122"/>
                <a:cs typeface="Playfair Display Bold" pitchFamily="34" charset="-120"/>
              </a:rPr>
              <a:t>Algorithms</a:t>
            </a:r>
            <a:endParaRPr lang="en-US" sz="2200" dirty="0"/>
          </a:p>
        </p:txBody>
      </p:sp>
      <p:sp>
        <p:nvSpPr>
          <p:cNvPr id="6" name="Text 4"/>
          <p:cNvSpPr/>
          <p:nvPr/>
        </p:nvSpPr>
        <p:spPr>
          <a:xfrm>
            <a:off x="5332928" y="3835598"/>
            <a:ext cx="397811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9393C"/>
                </a:solidFill>
                <a:latin typeface="Open Sans" pitchFamily="34" charset="0"/>
                <a:ea typeface="Open Sans" pitchFamily="34" charset="-122"/>
                <a:cs typeface="Open Sans" pitchFamily="34" charset="-120"/>
              </a:rPr>
              <a:t>Variational Autoencoders for unsupervised detection</a:t>
            </a:r>
            <a:endParaRPr lang="en-US" sz="1750" dirty="0"/>
          </a:p>
        </p:txBody>
      </p:sp>
      <p:sp>
        <p:nvSpPr>
          <p:cNvPr id="7" name="Text 5"/>
          <p:cNvSpPr/>
          <p:nvPr/>
        </p:nvSpPr>
        <p:spPr>
          <a:xfrm>
            <a:off x="5332928" y="4640699"/>
            <a:ext cx="397811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9393C"/>
                </a:solidFill>
                <a:latin typeface="Open Sans" pitchFamily="34" charset="0"/>
                <a:ea typeface="Open Sans" pitchFamily="34" charset="-122"/>
                <a:cs typeface="Open Sans" pitchFamily="34" charset="-120"/>
              </a:rPr>
              <a:t>Isolation Forests to isolate outliers</a:t>
            </a:r>
            <a:endParaRPr lang="en-US" sz="1750" dirty="0"/>
          </a:p>
        </p:txBody>
      </p:sp>
      <p:sp>
        <p:nvSpPr>
          <p:cNvPr id="8" name="Text 6"/>
          <p:cNvSpPr/>
          <p:nvPr/>
        </p:nvSpPr>
        <p:spPr>
          <a:xfrm>
            <a:off x="5332928" y="5445800"/>
            <a:ext cx="397811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9393C"/>
                </a:solidFill>
                <a:latin typeface="Open Sans" pitchFamily="34" charset="0"/>
                <a:ea typeface="Open Sans" pitchFamily="34" charset="-122"/>
                <a:cs typeface="Open Sans" pitchFamily="34" charset="-120"/>
              </a:rPr>
              <a:t>One-Class SVM to model normal behavior</a:t>
            </a:r>
            <a:endParaRPr lang="en-US" sz="1750" dirty="0"/>
          </a:p>
        </p:txBody>
      </p:sp>
      <p:sp>
        <p:nvSpPr>
          <p:cNvPr id="9" name="Text 7"/>
          <p:cNvSpPr/>
          <p:nvPr/>
        </p:nvSpPr>
        <p:spPr>
          <a:xfrm>
            <a:off x="9872067" y="325445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101014"/>
                </a:solidFill>
                <a:latin typeface="Playfair Display Bold" pitchFamily="34" charset="0"/>
                <a:ea typeface="Playfair Display Bold" pitchFamily="34" charset="-122"/>
                <a:cs typeface="Playfair Display Bold" pitchFamily="34" charset="-120"/>
              </a:rPr>
              <a:t>Evaluation</a:t>
            </a:r>
            <a:endParaRPr lang="en-US" sz="2200" dirty="0"/>
          </a:p>
        </p:txBody>
      </p:sp>
      <p:sp>
        <p:nvSpPr>
          <p:cNvPr id="10" name="Text 8"/>
          <p:cNvSpPr/>
          <p:nvPr/>
        </p:nvSpPr>
        <p:spPr>
          <a:xfrm>
            <a:off x="9872067" y="3835598"/>
            <a:ext cx="3978116" cy="725805"/>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Use precision, recall, F1-score, and ROC AUC metrics for validation.</a:t>
            </a:r>
            <a:endParaRPr lang="en-US" sz="1750" dirty="0"/>
          </a:p>
        </p:txBody>
      </p:sp>
      <p:pic>
        <p:nvPicPr>
          <p:cNvPr id="11" name="Picture 10">
            <a:extLst>
              <a:ext uri="{FF2B5EF4-FFF2-40B4-BE49-F238E27FC236}">
                <a16:creationId xmlns:a16="http://schemas.microsoft.com/office/drawing/2014/main" id="{32ACA984-8D56-99F3-BF80-7789B359A85E}"/>
              </a:ext>
            </a:extLst>
          </p:cNvPr>
          <p:cNvPicPr>
            <a:picLocks noChangeAspect="1"/>
          </p:cNvPicPr>
          <p:nvPr/>
        </p:nvPicPr>
        <p:blipFill>
          <a:blip r:embed="rId3"/>
          <a:stretch>
            <a:fillRect/>
          </a:stretch>
        </p:blipFill>
        <p:spPr>
          <a:xfrm>
            <a:off x="12834210" y="7650974"/>
            <a:ext cx="1705213" cy="4763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4090749"/>
            <a:ext cx="7663815" cy="708779"/>
          </a:xfrm>
          <a:prstGeom prst="rect">
            <a:avLst/>
          </a:prstGeom>
          <a:noFill/>
          <a:ln/>
        </p:spPr>
        <p:txBody>
          <a:bodyPr wrap="none" lIns="0" tIns="0" rIns="0" bIns="0" rtlCol="0" anchor="t"/>
          <a:lstStyle/>
          <a:p>
            <a:pPr marL="0" indent="0" algn="l">
              <a:lnSpc>
                <a:spcPts val="5550"/>
              </a:lnSpc>
              <a:buNone/>
            </a:pPr>
            <a:r>
              <a:rPr lang="en-US" sz="4450" b="1" dirty="0">
                <a:solidFill>
                  <a:srgbClr val="101014"/>
                </a:solidFill>
                <a:latin typeface="Playfair Display Bold" pitchFamily="34" charset="0"/>
                <a:ea typeface="Playfair Display Bold" pitchFamily="34" charset="-122"/>
                <a:cs typeface="Playfair Display Bold" pitchFamily="34" charset="-120"/>
              </a:rPr>
              <a:t>Autoencoder Implementation</a:t>
            </a:r>
            <a:endParaRPr lang="en-US" sz="4450" dirty="0"/>
          </a:p>
        </p:txBody>
      </p:sp>
      <p:sp>
        <p:nvSpPr>
          <p:cNvPr id="4" name="Shape 1"/>
          <p:cNvSpPr/>
          <p:nvPr/>
        </p:nvSpPr>
        <p:spPr>
          <a:xfrm>
            <a:off x="793790" y="5394841"/>
            <a:ext cx="510302" cy="510302"/>
          </a:xfrm>
          <a:prstGeom prst="roundRect">
            <a:avLst>
              <a:gd name="adj" fmla="val 6667"/>
            </a:avLst>
          </a:prstGeom>
          <a:solidFill>
            <a:srgbClr val="E0E0EC"/>
          </a:solidFill>
          <a:ln/>
        </p:spPr>
        <p:txBody>
          <a:bodyPr/>
          <a:lstStyle/>
          <a:p>
            <a:endParaRPr lang="en-US"/>
          </a:p>
        </p:txBody>
      </p:sp>
      <p:sp>
        <p:nvSpPr>
          <p:cNvPr id="5" name="Text 2"/>
          <p:cNvSpPr/>
          <p:nvPr/>
        </p:nvSpPr>
        <p:spPr>
          <a:xfrm>
            <a:off x="878860" y="5437346"/>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39393C"/>
                </a:solidFill>
                <a:latin typeface="Playfair Display Bold" pitchFamily="34" charset="0"/>
                <a:ea typeface="Playfair Display Bold" pitchFamily="34" charset="-122"/>
                <a:cs typeface="Playfair Display Bold" pitchFamily="34" charset="-120"/>
              </a:rPr>
              <a:t>1</a:t>
            </a:r>
            <a:endParaRPr lang="en-US" sz="2650" dirty="0"/>
          </a:p>
        </p:txBody>
      </p:sp>
      <p:sp>
        <p:nvSpPr>
          <p:cNvPr id="6" name="Text 3"/>
          <p:cNvSpPr/>
          <p:nvPr/>
        </p:nvSpPr>
        <p:spPr>
          <a:xfrm>
            <a:off x="1530906" y="539484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Architecture</a:t>
            </a:r>
            <a:endParaRPr lang="en-US" sz="2200" dirty="0"/>
          </a:p>
        </p:txBody>
      </p:sp>
      <p:sp>
        <p:nvSpPr>
          <p:cNvPr id="7" name="Text 4"/>
          <p:cNvSpPr/>
          <p:nvPr/>
        </p:nvSpPr>
        <p:spPr>
          <a:xfrm>
            <a:off x="1530906" y="5885259"/>
            <a:ext cx="3459242" cy="1088708"/>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Multilayer perceptron autoencoder with input, hidden, and output layers.</a:t>
            </a:r>
            <a:endParaRPr lang="en-US" sz="1750" dirty="0"/>
          </a:p>
        </p:txBody>
      </p:sp>
      <p:sp>
        <p:nvSpPr>
          <p:cNvPr id="8" name="Shape 5"/>
          <p:cNvSpPr/>
          <p:nvPr/>
        </p:nvSpPr>
        <p:spPr>
          <a:xfrm>
            <a:off x="5216962" y="5394841"/>
            <a:ext cx="510302" cy="510302"/>
          </a:xfrm>
          <a:prstGeom prst="roundRect">
            <a:avLst>
              <a:gd name="adj" fmla="val 6667"/>
            </a:avLst>
          </a:prstGeom>
          <a:solidFill>
            <a:srgbClr val="E0E0EC"/>
          </a:solidFill>
          <a:ln/>
        </p:spPr>
        <p:txBody>
          <a:bodyPr/>
          <a:lstStyle/>
          <a:p>
            <a:endParaRPr lang="en-US"/>
          </a:p>
        </p:txBody>
      </p:sp>
      <p:sp>
        <p:nvSpPr>
          <p:cNvPr id="9" name="Text 6"/>
          <p:cNvSpPr/>
          <p:nvPr/>
        </p:nvSpPr>
        <p:spPr>
          <a:xfrm>
            <a:off x="5302032" y="5437346"/>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39393C"/>
                </a:solidFill>
                <a:latin typeface="Playfair Display Bold" pitchFamily="34" charset="0"/>
                <a:ea typeface="Playfair Display Bold" pitchFamily="34" charset="-122"/>
                <a:cs typeface="Playfair Display Bold" pitchFamily="34" charset="-120"/>
              </a:rPr>
              <a:t>2</a:t>
            </a:r>
            <a:endParaRPr lang="en-US" sz="2650" dirty="0"/>
          </a:p>
        </p:txBody>
      </p:sp>
      <p:sp>
        <p:nvSpPr>
          <p:cNvPr id="10" name="Text 7"/>
          <p:cNvSpPr/>
          <p:nvPr/>
        </p:nvSpPr>
        <p:spPr>
          <a:xfrm>
            <a:off x="5954078" y="539484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Function</a:t>
            </a:r>
            <a:endParaRPr lang="en-US" sz="2200" dirty="0"/>
          </a:p>
        </p:txBody>
      </p:sp>
      <p:sp>
        <p:nvSpPr>
          <p:cNvPr id="11" name="Text 8"/>
          <p:cNvSpPr/>
          <p:nvPr/>
        </p:nvSpPr>
        <p:spPr>
          <a:xfrm>
            <a:off x="5954078" y="5885259"/>
            <a:ext cx="3459242" cy="1088708"/>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Reduce dimensionality to capture normal behavior, reconstruct input features.</a:t>
            </a:r>
            <a:endParaRPr lang="en-US" sz="1750" dirty="0"/>
          </a:p>
        </p:txBody>
      </p:sp>
      <p:sp>
        <p:nvSpPr>
          <p:cNvPr id="12" name="Shape 9"/>
          <p:cNvSpPr/>
          <p:nvPr/>
        </p:nvSpPr>
        <p:spPr>
          <a:xfrm>
            <a:off x="9640133" y="5394841"/>
            <a:ext cx="510302" cy="510302"/>
          </a:xfrm>
          <a:prstGeom prst="roundRect">
            <a:avLst>
              <a:gd name="adj" fmla="val 6667"/>
            </a:avLst>
          </a:prstGeom>
          <a:solidFill>
            <a:srgbClr val="E0E0EC"/>
          </a:solidFill>
          <a:ln/>
        </p:spPr>
        <p:txBody>
          <a:bodyPr/>
          <a:lstStyle/>
          <a:p>
            <a:endParaRPr lang="en-US"/>
          </a:p>
        </p:txBody>
      </p:sp>
      <p:sp>
        <p:nvSpPr>
          <p:cNvPr id="13" name="Text 10"/>
          <p:cNvSpPr/>
          <p:nvPr/>
        </p:nvSpPr>
        <p:spPr>
          <a:xfrm>
            <a:off x="9725204" y="5437346"/>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39393C"/>
                </a:solidFill>
                <a:latin typeface="Playfair Display Bold" pitchFamily="34" charset="0"/>
                <a:ea typeface="Playfair Display Bold" pitchFamily="34" charset="-122"/>
                <a:cs typeface="Playfair Display Bold" pitchFamily="34" charset="-120"/>
              </a:rPr>
              <a:t>3</a:t>
            </a:r>
            <a:endParaRPr lang="en-US" sz="2650" dirty="0"/>
          </a:p>
        </p:txBody>
      </p:sp>
      <p:sp>
        <p:nvSpPr>
          <p:cNvPr id="14" name="Text 11"/>
          <p:cNvSpPr/>
          <p:nvPr/>
        </p:nvSpPr>
        <p:spPr>
          <a:xfrm>
            <a:off x="10377249" y="539484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Anomaly Detection</a:t>
            </a:r>
            <a:endParaRPr lang="en-US" sz="2200" dirty="0"/>
          </a:p>
        </p:txBody>
      </p:sp>
      <p:sp>
        <p:nvSpPr>
          <p:cNvPr id="15" name="Text 12"/>
          <p:cNvSpPr/>
          <p:nvPr/>
        </p:nvSpPr>
        <p:spPr>
          <a:xfrm>
            <a:off x="10377249" y="5885259"/>
            <a:ext cx="3459242" cy="1088708"/>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Calculate reconstruction error and use threshold based on statistical analysis.</a:t>
            </a:r>
            <a:endParaRPr lang="en-US" sz="1750" dirty="0"/>
          </a:p>
        </p:txBody>
      </p:sp>
      <p:pic>
        <p:nvPicPr>
          <p:cNvPr id="16" name="Picture 15">
            <a:extLst>
              <a:ext uri="{FF2B5EF4-FFF2-40B4-BE49-F238E27FC236}">
                <a16:creationId xmlns:a16="http://schemas.microsoft.com/office/drawing/2014/main" id="{0D090E9C-3F26-D2C1-FEC1-8C509E399351}"/>
              </a:ext>
            </a:extLst>
          </p:cNvPr>
          <p:cNvPicPr>
            <a:picLocks noChangeAspect="1"/>
          </p:cNvPicPr>
          <p:nvPr/>
        </p:nvPicPr>
        <p:blipFill>
          <a:blip r:embed="rId4"/>
          <a:stretch>
            <a:fillRect/>
          </a:stretch>
        </p:blipFill>
        <p:spPr>
          <a:xfrm>
            <a:off x="12834210" y="7650974"/>
            <a:ext cx="1705213" cy="4763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2026801"/>
            <a:ext cx="13042821" cy="1417558"/>
          </a:xfrm>
          <a:prstGeom prst="rect">
            <a:avLst/>
          </a:prstGeom>
          <a:noFill/>
          <a:ln/>
        </p:spPr>
        <p:txBody>
          <a:bodyPr wrap="square" lIns="0" tIns="0" rIns="0" bIns="0" rtlCol="0" anchor="t"/>
          <a:lstStyle/>
          <a:p>
            <a:pPr marL="0" indent="0" algn="l">
              <a:lnSpc>
                <a:spcPts val="5550"/>
              </a:lnSpc>
              <a:buNone/>
            </a:pPr>
            <a:r>
              <a:rPr lang="en-US" sz="4450" b="1" dirty="0">
                <a:solidFill>
                  <a:srgbClr val="101014"/>
                </a:solidFill>
                <a:latin typeface="Playfair Display Bold" pitchFamily="34" charset="0"/>
                <a:ea typeface="Playfair Display Bold" pitchFamily="34" charset="-122"/>
                <a:cs typeface="Playfair Display Bold" pitchFamily="34" charset="-120"/>
              </a:rPr>
              <a:t>Real-Time Implementation and System Architecture</a:t>
            </a:r>
            <a:endParaRPr lang="en-US" sz="4450" dirty="0"/>
          </a:p>
        </p:txBody>
      </p:sp>
      <p:sp>
        <p:nvSpPr>
          <p:cNvPr id="3" name="Text 1"/>
          <p:cNvSpPr/>
          <p:nvPr/>
        </p:nvSpPr>
        <p:spPr>
          <a:xfrm>
            <a:off x="793790" y="4011335"/>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101014"/>
                </a:solidFill>
                <a:latin typeface="Playfair Display Bold" pitchFamily="34" charset="0"/>
                <a:ea typeface="Playfair Display Bold" pitchFamily="34" charset="-122"/>
                <a:cs typeface="Playfair Display Bold" pitchFamily="34" charset="-120"/>
              </a:rPr>
              <a:t>Edge Computing</a:t>
            </a:r>
            <a:endParaRPr lang="en-US" sz="2200" dirty="0"/>
          </a:p>
        </p:txBody>
      </p:sp>
      <p:sp>
        <p:nvSpPr>
          <p:cNvPr id="4" name="Text 2"/>
          <p:cNvSpPr/>
          <p:nvPr/>
        </p:nvSpPr>
        <p:spPr>
          <a:xfrm>
            <a:off x="793790" y="4592479"/>
            <a:ext cx="3978116" cy="1088708"/>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Embedded systems process CAN messages with low latency under 1ms.</a:t>
            </a:r>
            <a:endParaRPr lang="en-US" sz="1750" dirty="0"/>
          </a:p>
        </p:txBody>
      </p:sp>
      <p:sp>
        <p:nvSpPr>
          <p:cNvPr id="5" name="Text 3"/>
          <p:cNvSpPr/>
          <p:nvPr/>
        </p:nvSpPr>
        <p:spPr>
          <a:xfrm>
            <a:off x="5332928" y="4011335"/>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101014"/>
                </a:solidFill>
                <a:latin typeface="Playfair Display Bold" pitchFamily="34" charset="0"/>
                <a:ea typeface="Playfair Display Bold" pitchFamily="34" charset="-122"/>
                <a:cs typeface="Playfair Display Bold" pitchFamily="34" charset="-120"/>
              </a:rPr>
              <a:t>Optimization</a:t>
            </a:r>
            <a:endParaRPr lang="en-US" sz="2200" dirty="0"/>
          </a:p>
        </p:txBody>
      </p:sp>
      <p:sp>
        <p:nvSpPr>
          <p:cNvPr id="6" name="Text 4"/>
          <p:cNvSpPr/>
          <p:nvPr/>
        </p:nvSpPr>
        <p:spPr>
          <a:xfrm>
            <a:off x="5332928" y="4592479"/>
            <a:ext cx="397811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9393C"/>
                </a:solidFill>
                <a:latin typeface="Open Sans" pitchFamily="34" charset="0"/>
                <a:ea typeface="Open Sans" pitchFamily="34" charset="-122"/>
                <a:cs typeface="Open Sans" pitchFamily="34" charset="-120"/>
              </a:rPr>
              <a:t>Techniques include quantization, pruning, knowledge distillation.</a:t>
            </a:r>
            <a:endParaRPr lang="en-US" sz="1750" dirty="0"/>
          </a:p>
        </p:txBody>
      </p:sp>
      <p:sp>
        <p:nvSpPr>
          <p:cNvPr id="7" name="Text 5"/>
          <p:cNvSpPr/>
          <p:nvPr/>
        </p:nvSpPr>
        <p:spPr>
          <a:xfrm>
            <a:off x="5332928" y="5397579"/>
            <a:ext cx="397811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9393C"/>
                </a:solidFill>
                <a:latin typeface="Open Sans" pitchFamily="34" charset="0"/>
                <a:ea typeface="Open Sans" pitchFamily="34" charset="-122"/>
                <a:cs typeface="Open Sans" pitchFamily="34" charset="-120"/>
              </a:rPr>
              <a:t>Frameworks used: TensorFlow Lite, ONNX Runtime.</a:t>
            </a:r>
            <a:endParaRPr lang="en-US" sz="1750" dirty="0"/>
          </a:p>
        </p:txBody>
      </p:sp>
      <p:sp>
        <p:nvSpPr>
          <p:cNvPr id="8" name="Text 6"/>
          <p:cNvSpPr/>
          <p:nvPr/>
        </p:nvSpPr>
        <p:spPr>
          <a:xfrm>
            <a:off x="9872067" y="4011335"/>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101014"/>
                </a:solidFill>
                <a:latin typeface="Playfair Display Bold" pitchFamily="34" charset="0"/>
                <a:ea typeface="Playfair Display Bold" pitchFamily="34" charset="-122"/>
                <a:cs typeface="Playfair Display Bold" pitchFamily="34" charset="-120"/>
              </a:rPr>
              <a:t>Response Actions</a:t>
            </a:r>
            <a:endParaRPr lang="en-US" sz="2200" dirty="0"/>
          </a:p>
        </p:txBody>
      </p:sp>
      <p:sp>
        <p:nvSpPr>
          <p:cNvPr id="9" name="Text 7"/>
          <p:cNvSpPr/>
          <p:nvPr/>
        </p:nvSpPr>
        <p:spPr>
          <a:xfrm>
            <a:off x="9872067" y="4592479"/>
            <a:ext cx="3978116" cy="725805"/>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Trigger alerts, gateway shutdown, or failsafe mode upon detection.</a:t>
            </a:r>
            <a:endParaRPr lang="en-US" sz="1750" dirty="0"/>
          </a:p>
        </p:txBody>
      </p:sp>
      <p:pic>
        <p:nvPicPr>
          <p:cNvPr id="10" name="Picture 9">
            <a:extLst>
              <a:ext uri="{FF2B5EF4-FFF2-40B4-BE49-F238E27FC236}">
                <a16:creationId xmlns:a16="http://schemas.microsoft.com/office/drawing/2014/main" id="{805E6F68-CBCB-FE3A-7163-FE69A564EEB7}"/>
              </a:ext>
            </a:extLst>
          </p:cNvPr>
          <p:cNvPicPr>
            <a:picLocks noChangeAspect="1"/>
          </p:cNvPicPr>
          <p:nvPr/>
        </p:nvPicPr>
        <p:blipFill>
          <a:blip r:embed="rId3"/>
          <a:stretch>
            <a:fillRect/>
          </a:stretch>
        </p:blipFill>
        <p:spPr>
          <a:xfrm>
            <a:off x="12834210" y="7650974"/>
            <a:ext cx="1705213" cy="4763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892850"/>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101014"/>
                </a:solidFill>
                <a:latin typeface="Playfair Display Bold" pitchFamily="34" charset="0"/>
                <a:ea typeface="Playfair Display Bold" pitchFamily="34" charset="-122"/>
                <a:cs typeface="Playfair Display Bold" pitchFamily="34" charset="-120"/>
              </a:rPr>
              <a:t>Performance Metrics and Validation</a:t>
            </a:r>
            <a:endParaRPr lang="en-US" sz="4450" dirty="0"/>
          </a:p>
        </p:txBody>
      </p:sp>
      <p:sp>
        <p:nvSpPr>
          <p:cNvPr id="4" name="Shape 1"/>
          <p:cNvSpPr/>
          <p:nvPr/>
        </p:nvSpPr>
        <p:spPr>
          <a:xfrm>
            <a:off x="793790" y="2650569"/>
            <a:ext cx="7556421" cy="3705225"/>
          </a:xfrm>
          <a:prstGeom prst="roundRect">
            <a:avLst>
              <a:gd name="adj" fmla="val 918"/>
            </a:avLst>
          </a:prstGeom>
          <a:noFill/>
          <a:ln w="7620">
            <a:solidFill>
              <a:srgbClr val="000000">
                <a:alpha val="8000"/>
              </a:srgbClr>
            </a:solidFill>
            <a:prstDash val="solid"/>
          </a:ln>
        </p:spPr>
        <p:txBody>
          <a:bodyPr/>
          <a:lstStyle/>
          <a:p>
            <a:endParaRPr lang="en-US"/>
          </a:p>
        </p:txBody>
      </p:sp>
      <p:sp>
        <p:nvSpPr>
          <p:cNvPr id="5" name="Shape 2"/>
          <p:cNvSpPr/>
          <p:nvPr/>
        </p:nvSpPr>
        <p:spPr>
          <a:xfrm>
            <a:off x="801410" y="2658189"/>
            <a:ext cx="7541181" cy="1013222"/>
          </a:xfrm>
          <a:prstGeom prst="rect">
            <a:avLst/>
          </a:prstGeom>
          <a:solidFill>
            <a:srgbClr val="FFFFFF">
              <a:alpha val="4000"/>
            </a:srgbClr>
          </a:solidFill>
          <a:ln/>
        </p:spPr>
        <p:txBody>
          <a:bodyPr/>
          <a:lstStyle/>
          <a:p>
            <a:endParaRPr lang="en-US"/>
          </a:p>
        </p:txBody>
      </p:sp>
      <p:sp>
        <p:nvSpPr>
          <p:cNvPr id="6" name="Text 3"/>
          <p:cNvSpPr/>
          <p:nvPr/>
        </p:nvSpPr>
        <p:spPr>
          <a:xfrm>
            <a:off x="1028462" y="2801898"/>
            <a:ext cx="1427798"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Model</a:t>
            </a:r>
            <a:endParaRPr lang="en-US" sz="1750" dirty="0"/>
          </a:p>
        </p:txBody>
      </p:sp>
      <p:sp>
        <p:nvSpPr>
          <p:cNvPr id="7" name="Text 4"/>
          <p:cNvSpPr/>
          <p:nvPr/>
        </p:nvSpPr>
        <p:spPr>
          <a:xfrm>
            <a:off x="2917508" y="2801898"/>
            <a:ext cx="1423987" cy="725805"/>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Detection Accuracy</a:t>
            </a:r>
            <a:endParaRPr lang="en-US" sz="1750" dirty="0"/>
          </a:p>
        </p:txBody>
      </p:sp>
      <p:sp>
        <p:nvSpPr>
          <p:cNvPr id="8" name="Text 5"/>
          <p:cNvSpPr/>
          <p:nvPr/>
        </p:nvSpPr>
        <p:spPr>
          <a:xfrm>
            <a:off x="4802743" y="2801898"/>
            <a:ext cx="1423987" cy="725805"/>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False Positive Rate</a:t>
            </a:r>
            <a:endParaRPr lang="en-US" sz="1750" dirty="0"/>
          </a:p>
        </p:txBody>
      </p:sp>
      <p:sp>
        <p:nvSpPr>
          <p:cNvPr id="9" name="Text 6"/>
          <p:cNvSpPr/>
          <p:nvPr/>
        </p:nvSpPr>
        <p:spPr>
          <a:xfrm>
            <a:off x="6687979" y="2801898"/>
            <a:ext cx="1427798"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ROC AUC</a:t>
            </a:r>
            <a:endParaRPr lang="en-US" sz="1750" dirty="0"/>
          </a:p>
        </p:txBody>
      </p:sp>
      <p:sp>
        <p:nvSpPr>
          <p:cNvPr id="10" name="Shape 7"/>
          <p:cNvSpPr/>
          <p:nvPr/>
        </p:nvSpPr>
        <p:spPr>
          <a:xfrm>
            <a:off x="801410" y="3671411"/>
            <a:ext cx="7541181" cy="650319"/>
          </a:xfrm>
          <a:prstGeom prst="rect">
            <a:avLst/>
          </a:prstGeom>
          <a:solidFill>
            <a:srgbClr val="000000">
              <a:alpha val="4000"/>
            </a:srgbClr>
          </a:solidFill>
          <a:ln/>
        </p:spPr>
        <p:txBody>
          <a:bodyPr/>
          <a:lstStyle/>
          <a:p>
            <a:endParaRPr lang="en-US"/>
          </a:p>
        </p:txBody>
      </p:sp>
      <p:sp>
        <p:nvSpPr>
          <p:cNvPr id="11" name="Text 8"/>
          <p:cNvSpPr/>
          <p:nvPr/>
        </p:nvSpPr>
        <p:spPr>
          <a:xfrm>
            <a:off x="1028462" y="3815120"/>
            <a:ext cx="1427798"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Autoencoder</a:t>
            </a:r>
            <a:endParaRPr lang="en-US" sz="1750" dirty="0"/>
          </a:p>
        </p:txBody>
      </p:sp>
      <p:sp>
        <p:nvSpPr>
          <p:cNvPr id="12" name="Text 9"/>
          <p:cNvSpPr/>
          <p:nvPr/>
        </p:nvSpPr>
        <p:spPr>
          <a:xfrm>
            <a:off x="2917508" y="3815120"/>
            <a:ext cx="1423987"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98%</a:t>
            </a:r>
            <a:endParaRPr lang="en-US" sz="1750" dirty="0"/>
          </a:p>
        </p:txBody>
      </p:sp>
      <p:sp>
        <p:nvSpPr>
          <p:cNvPr id="13" name="Text 10"/>
          <p:cNvSpPr/>
          <p:nvPr/>
        </p:nvSpPr>
        <p:spPr>
          <a:xfrm>
            <a:off x="4802743" y="3815120"/>
            <a:ext cx="1423987"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1%</a:t>
            </a:r>
            <a:endParaRPr lang="en-US" sz="1750" dirty="0"/>
          </a:p>
        </p:txBody>
      </p:sp>
      <p:sp>
        <p:nvSpPr>
          <p:cNvPr id="14" name="Text 11"/>
          <p:cNvSpPr/>
          <p:nvPr/>
        </p:nvSpPr>
        <p:spPr>
          <a:xfrm>
            <a:off x="6687979" y="3815120"/>
            <a:ext cx="1427798"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0.99</a:t>
            </a:r>
            <a:endParaRPr lang="en-US" sz="1750" dirty="0"/>
          </a:p>
        </p:txBody>
      </p:sp>
      <p:sp>
        <p:nvSpPr>
          <p:cNvPr id="15" name="Shape 12"/>
          <p:cNvSpPr/>
          <p:nvPr/>
        </p:nvSpPr>
        <p:spPr>
          <a:xfrm>
            <a:off x="801410" y="4321731"/>
            <a:ext cx="7541181" cy="1013222"/>
          </a:xfrm>
          <a:prstGeom prst="rect">
            <a:avLst/>
          </a:prstGeom>
          <a:solidFill>
            <a:srgbClr val="FFFFFF">
              <a:alpha val="4000"/>
            </a:srgbClr>
          </a:solidFill>
          <a:ln/>
        </p:spPr>
        <p:txBody>
          <a:bodyPr/>
          <a:lstStyle/>
          <a:p>
            <a:endParaRPr lang="en-US"/>
          </a:p>
        </p:txBody>
      </p:sp>
      <p:sp>
        <p:nvSpPr>
          <p:cNvPr id="16" name="Text 13"/>
          <p:cNvSpPr/>
          <p:nvPr/>
        </p:nvSpPr>
        <p:spPr>
          <a:xfrm>
            <a:off x="1028462" y="4465439"/>
            <a:ext cx="1427798" cy="725805"/>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Isolation Forest</a:t>
            </a:r>
            <a:endParaRPr lang="en-US" sz="1750" dirty="0"/>
          </a:p>
        </p:txBody>
      </p:sp>
      <p:sp>
        <p:nvSpPr>
          <p:cNvPr id="17" name="Text 14"/>
          <p:cNvSpPr/>
          <p:nvPr/>
        </p:nvSpPr>
        <p:spPr>
          <a:xfrm>
            <a:off x="2917508" y="4465439"/>
            <a:ext cx="1423987"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95%</a:t>
            </a:r>
            <a:endParaRPr lang="en-US" sz="1750" dirty="0"/>
          </a:p>
        </p:txBody>
      </p:sp>
      <p:sp>
        <p:nvSpPr>
          <p:cNvPr id="18" name="Text 15"/>
          <p:cNvSpPr/>
          <p:nvPr/>
        </p:nvSpPr>
        <p:spPr>
          <a:xfrm>
            <a:off x="4802743" y="4465439"/>
            <a:ext cx="1423987"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2%</a:t>
            </a:r>
            <a:endParaRPr lang="en-US" sz="1750" dirty="0"/>
          </a:p>
        </p:txBody>
      </p:sp>
      <p:sp>
        <p:nvSpPr>
          <p:cNvPr id="19" name="Text 16"/>
          <p:cNvSpPr/>
          <p:nvPr/>
        </p:nvSpPr>
        <p:spPr>
          <a:xfrm>
            <a:off x="6687979" y="4465439"/>
            <a:ext cx="1427798"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0.97</a:t>
            </a:r>
            <a:endParaRPr lang="en-US" sz="1750" dirty="0"/>
          </a:p>
        </p:txBody>
      </p:sp>
      <p:sp>
        <p:nvSpPr>
          <p:cNvPr id="20" name="Shape 17"/>
          <p:cNvSpPr/>
          <p:nvPr/>
        </p:nvSpPr>
        <p:spPr>
          <a:xfrm>
            <a:off x="801410" y="5334953"/>
            <a:ext cx="7541181" cy="1013222"/>
          </a:xfrm>
          <a:prstGeom prst="rect">
            <a:avLst/>
          </a:prstGeom>
          <a:solidFill>
            <a:srgbClr val="000000">
              <a:alpha val="4000"/>
            </a:srgbClr>
          </a:solidFill>
          <a:ln/>
        </p:spPr>
        <p:txBody>
          <a:bodyPr/>
          <a:lstStyle/>
          <a:p>
            <a:endParaRPr lang="en-US"/>
          </a:p>
        </p:txBody>
      </p:sp>
      <p:sp>
        <p:nvSpPr>
          <p:cNvPr id="21" name="Text 18"/>
          <p:cNvSpPr/>
          <p:nvPr/>
        </p:nvSpPr>
        <p:spPr>
          <a:xfrm>
            <a:off x="1028462" y="5478661"/>
            <a:ext cx="1427798" cy="725805"/>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One-Class SVM</a:t>
            </a:r>
            <a:endParaRPr lang="en-US" sz="1750" dirty="0"/>
          </a:p>
        </p:txBody>
      </p:sp>
      <p:sp>
        <p:nvSpPr>
          <p:cNvPr id="22" name="Text 19"/>
          <p:cNvSpPr/>
          <p:nvPr/>
        </p:nvSpPr>
        <p:spPr>
          <a:xfrm>
            <a:off x="2917508" y="5478661"/>
            <a:ext cx="1423987"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92%</a:t>
            </a:r>
            <a:endParaRPr lang="en-US" sz="1750" dirty="0"/>
          </a:p>
        </p:txBody>
      </p:sp>
      <p:sp>
        <p:nvSpPr>
          <p:cNvPr id="23" name="Text 20"/>
          <p:cNvSpPr/>
          <p:nvPr/>
        </p:nvSpPr>
        <p:spPr>
          <a:xfrm>
            <a:off x="4802743" y="5478661"/>
            <a:ext cx="1423987"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3%</a:t>
            </a:r>
            <a:endParaRPr lang="en-US" sz="1750" dirty="0"/>
          </a:p>
        </p:txBody>
      </p:sp>
      <p:sp>
        <p:nvSpPr>
          <p:cNvPr id="24" name="Text 21"/>
          <p:cNvSpPr/>
          <p:nvPr/>
        </p:nvSpPr>
        <p:spPr>
          <a:xfrm>
            <a:off x="6687979" y="5478661"/>
            <a:ext cx="1427798"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0.95</a:t>
            </a:r>
            <a:endParaRPr lang="en-US" sz="1750" dirty="0"/>
          </a:p>
        </p:txBody>
      </p:sp>
      <p:sp>
        <p:nvSpPr>
          <p:cNvPr id="25" name="Text 22"/>
          <p:cNvSpPr/>
          <p:nvPr/>
        </p:nvSpPr>
        <p:spPr>
          <a:xfrm>
            <a:off x="793790" y="6610945"/>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Machine learning models outperform traditional rules with improved adaptability and robustness.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833199"/>
            <a:ext cx="8760381" cy="708779"/>
          </a:xfrm>
          <a:prstGeom prst="rect">
            <a:avLst/>
          </a:prstGeom>
          <a:noFill/>
          <a:ln/>
        </p:spPr>
        <p:txBody>
          <a:bodyPr wrap="none" lIns="0" tIns="0" rIns="0" bIns="0" rtlCol="0" anchor="t"/>
          <a:lstStyle/>
          <a:p>
            <a:pPr marL="0" indent="0" algn="l">
              <a:lnSpc>
                <a:spcPts val="5550"/>
              </a:lnSpc>
              <a:buNone/>
            </a:pPr>
            <a:r>
              <a:rPr lang="en-US" sz="4450" b="1" dirty="0">
                <a:solidFill>
                  <a:srgbClr val="101014"/>
                </a:solidFill>
                <a:latin typeface="Playfair Display Bold" pitchFamily="34" charset="0"/>
                <a:ea typeface="Playfair Display Bold" pitchFamily="34" charset="-122"/>
                <a:cs typeface="Playfair Display Bold" pitchFamily="34" charset="-120"/>
              </a:rPr>
              <a:t>Challenges and Future Directions</a:t>
            </a:r>
            <a:endParaRPr lang="en-US" sz="4450" dirty="0"/>
          </a:p>
        </p:txBody>
      </p:sp>
      <p:sp>
        <p:nvSpPr>
          <p:cNvPr id="3" name="Shape 1"/>
          <p:cNvSpPr/>
          <p:nvPr/>
        </p:nvSpPr>
        <p:spPr>
          <a:xfrm>
            <a:off x="793790" y="1995607"/>
            <a:ext cx="170021" cy="853321"/>
          </a:xfrm>
          <a:prstGeom prst="roundRect">
            <a:avLst>
              <a:gd name="adj" fmla="val 20012"/>
            </a:avLst>
          </a:prstGeom>
          <a:solidFill>
            <a:srgbClr val="E0E0EC"/>
          </a:solidFill>
          <a:ln/>
        </p:spPr>
        <p:txBody>
          <a:bodyPr/>
          <a:lstStyle/>
          <a:p>
            <a:endParaRPr lang="en-US"/>
          </a:p>
        </p:txBody>
      </p:sp>
      <p:sp>
        <p:nvSpPr>
          <p:cNvPr id="4" name="Text 2"/>
          <p:cNvSpPr/>
          <p:nvPr/>
        </p:nvSpPr>
        <p:spPr>
          <a:xfrm>
            <a:off x="1303973" y="199560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Data Drift</a:t>
            </a:r>
            <a:endParaRPr lang="en-US" sz="2200" dirty="0"/>
          </a:p>
        </p:txBody>
      </p:sp>
      <p:sp>
        <p:nvSpPr>
          <p:cNvPr id="5" name="Text 3"/>
          <p:cNvSpPr/>
          <p:nvPr/>
        </p:nvSpPr>
        <p:spPr>
          <a:xfrm>
            <a:off x="1303973" y="2486025"/>
            <a:ext cx="12532638"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Adapt models to evolving CAN traffic patterns over time.</a:t>
            </a:r>
            <a:endParaRPr lang="en-US" sz="1750" dirty="0"/>
          </a:p>
        </p:txBody>
      </p:sp>
      <p:sp>
        <p:nvSpPr>
          <p:cNvPr id="6" name="Shape 4"/>
          <p:cNvSpPr/>
          <p:nvPr/>
        </p:nvSpPr>
        <p:spPr>
          <a:xfrm>
            <a:off x="1133951" y="3075742"/>
            <a:ext cx="170021" cy="853321"/>
          </a:xfrm>
          <a:prstGeom prst="roundRect">
            <a:avLst>
              <a:gd name="adj" fmla="val 20012"/>
            </a:avLst>
          </a:prstGeom>
          <a:solidFill>
            <a:srgbClr val="E0E0EC"/>
          </a:solidFill>
          <a:ln/>
        </p:spPr>
        <p:txBody>
          <a:bodyPr/>
          <a:lstStyle/>
          <a:p>
            <a:endParaRPr lang="en-US"/>
          </a:p>
        </p:txBody>
      </p:sp>
      <p:sp>
        <p:nvSpPr>
          <p:cNvPr id="7" name="Text 5"/>
          <p:cNvSpPr/>
          <p:nvPr/>
        </p:nvSpPr>
        <p:spPr>
          <a:xfrm>
            <a:off x="1644134" y="307574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Adversarial Attacks</a:t>
            </a:r>
            <a:endParaRPr lang="en-US" sz="2200" dirty="0"/>
          </a:p>
        </p:txBody>
      </p:sp>
      <p:sp>
        <p:nvSpPr>
          <p:cNvPr id="8" name="Text 6"/>
          <p:cNvSpPr/>
          <p:nvPr/>
        </p:nvSpPr>
        <p:spPr>
          <a:xfrm>
            <a:off x="1644134" y="3566160"/>
            <a:ext cx="12192476"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Improve robustness to evade detection by sophisticated threats.</a:t>
            </a:r>
            <a:endParaRPr lang="en-US" sz="1750" dirty="0"/>
          </a:p>
        </p:txBody>
      </p:sp>
      <p:sp>
        <p:nvSpPr>
          <p:cNvPr id="9" name="Shape 7"/>
          <p:cNvSpPr/>
          <p:nvPr/>
        </p:nvSpPr>
        <p:spPr>
          <a:xfrm>
            <a:off x="1474232" y="4155877"/>
            <a:ext cx="170021" cy="853321"/>
          </a:xfrm>
          <a:prstGeom prst="roundRect">
            <a:avLst>
              <a:gd name="adj" fmla="val 20012"/>
            </a:avLst>
          </a:prstGeom>
          <a:solidFill>
            <a:srgbClr val="E0E0EC"/>
          </a:solidFill>
          <a:ln/>
        </p:spPr>
        <p:txBody>
          <a:bodyPr/>
          <a:lstStyle/>
          <a:p>
            <a:endParaRPr lang="en-US"/>
          </a:p>
        </p:txBody>
      </p:sp>
      <p:sp>
        <p:nvSpPr>
          <p:cNvPr id="10" name="Text 8"/>
          <p:cNvSpPr/>
          <p:nvPr/>
        </p:nvSpPr>
        <p:spPr>
          <a:xfrm>
            <a:off x="1984415" y="415587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Explainable AI</a:t>
            </a:r>
            <a:endParaRPr lang="en-US" sz="2200" dirty="0"/>
          </a:p>
        </p:txBody>
      </p:sp>
      <p:sp>
        <p:nvSpPr>
          <p:cNvPr id="11" name="Text 9"/>
          <p:cNvSpPr/>
          <p:nvPr/>
        </p:nvSpPr>
        <p:spPr>
          <a:xfrm>
            <a:off x="1984415" y="4646295"/>
            <a:ext cx="11852196"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Enhance interpretability of detection results for trust and action.</a:t>
            </a:r>
            <a:endParaRPr lang="en-US" sz="1750" dirty="0"/>
          </a:p>
        </p:txBody>
      </p:sp>
      <p:sp>
        <p:nvSpPr>
          <p:cNvPr id="12" name="Shape 10"/>
          <p:cNvSpPr/>
          <p:nvPr/>
        </p:nvSpPr>
        <p:spPr>
          <a:xfrm>
            <a:off x="1814513" y="5236012"/>
            <a:ext cx="170021" cy="853321"/>
          </a:xfrm>
          <a:prstGeom prst="roundRect">
            <a:avLst>
              <a:gd name="adj" fmla="val 20012"/>
            </a:avLst>
          </a:prstGeom>
          <a:solidFill>
            <a:srgbClr val="E0E0EC"/>
          </a:solidFill>
          <a:ln/>
        </p:spPr>
        <p:txBody>
          <a:bodyPr/>
          <a:lstStyle/>
          <a:p>
            <a:endParaRPr lang="en-US"/>
          </a:p>
        </p:txBody>
      </p:sp>
      <p:sp>
        <p:nvSpPr>
          <p:cNvPr id="13" name="Text 11"/>
          <p:cNvSpPr/>
          <p:nvPr/>
        </p:nvSpPr>
        <p:spPr>
          <a:xfrm>
            <a:off x="2324695" y="523601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Federated Learning</a:t>
            </a:r>
            <a:endParaRPr lang="en-US" sz="2200" dirty="0"/>
          </a:p>
        </p:txBody>
      </p:sp>
      <p:sp>
        <p:nvSpPr>
          <p:cNvPr id="14" name="Text 12"/>
          <p:cNvSpPr/>
          <p:nvPr/>
        </p:nvSpPr>
        <p:spPr>
          <a:xfrm>
            <a:off x="2324695" y="5726430"/>
            <a:ext cx="11511915"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Collaborative training across vehicles preserving data privacy.</a:t>
            </a:r>
            <a:endParaRPr lang="en-US" sz="1750" dirty="0"/>
          </a:p>
        </p:txBody>
      </p:sp>
      <p:sp>
        <p:nvSpPr>
          <p:cNvPr id="15" name="Shape 13"/>
          <p:cNvSpPr/>
          <p:nvPr/>
        </p:nvSpPr>
        <p:spPr>
          <a:xfrm>
            <a:off x="1474232" y="6316147"/>
            <a:ext cx="170021" cy="853321"/>
          </a:xfrm>
          <a:prstGeom prst="roundRect">
            <a:avLst>
              <a:gd name="adj" fmla="val 20012"/>
            </a:avLst>
          </a:prstGeom>
          <a:solidFill>
            <a:srgbClr val="E0E0EC"/>
          </a:solidFill>
          <a:ln/>
        </p:spPr>
        <p:txBody>
          <a:bodyPr/>
          <a:lstStyle/>
          <a:p>
            <a:endParaRPr lang="en-US"/>
          </a:p>
        </p:txBody>
      </p:sp>
      <p:sp>
        <p:nvSpPr>
          <p:cNvPr id="16" name="Text 14"/>
          <p:cNvSpPr/>
          <p:nvPr/>
        </p:nvSpPr>
        <p:spPr>
          <a:xfrm>
            <a:off x="1984415" y="631614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Transfer Learning</a:t>
            </a:r>
            <a:endParaRPr lang="en-US" sz="2200" dirty="0"/>
          </a:p>
        </p:txBody>
      </p:sp>
      <p:sp>
        <p:nvSpPr>
          <p:cNvPr id="17" name="Text 15"/>
          <p:cNvSpPr/>
          <p:nvPr/>
        </p:nvSpPr>
        <p:spPr>
          <a:xfrm>
            <a:off x="1984415" y="6806565"/>
            <a:ext cx="11852196"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Apply models from one vehicle type to others efficiently.</a:t>
            </a:r>
            <a:endParaRPr lang="en-US" sz="1750" dirty="0"/>
          </a:p>
        </p:txBody>
      </p:sp>
      <p:pic>
        <p:nvPicPr>
          <p:cNvPr id="18" name="Picture 17">
            <a:extLst>
              <a:ext uri="{FF2B5EF4-FFF2-40B4-BE49-F238E27FC236}">
                <a16:creationId xmlns:a16="http://schemas.microsoft.com/office/drawing/2014/main" id="{A0EBBF99-7624-06F0-A6CC-986515BFD318}"/>
              </a:ext>
            </a:extLst>
          </p:cNvPr>
          <p:cNvPicPr>
            <a:picLocks noChangeAspect="1"/>
          </p:cNvPicPr>
          <p:nvPr/>
        </p:nvPicPr>
        <p:blipFill>
          <a:blip r:embed="rId3"/>
          <a:stretch>
            <a:fillRect/>
          </a:stretch>
        </p:blipFill>
        <p:spPr>
          <a:xfrm>
            <a:off x="12834210" y="7650974"/>
            <a:ext cx="1705213" cy="4763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11899"/>
          </a:xfrm>
          <a:prstGeom prst="rect">
            <a:avLst/>
          </a:prstGeom>
        </p:spPr>
      </p:pic>
      <p:sp>
        <p:nvSpPr>
          <p:cNvPr id="3" name="Text 0"/>
          <p:cNvSpPr/>
          <p:nvPr/>
        </p:nvSpPr>
        <p:spPr>
          <a:xfrm>
            <a:off x="787241" y="3430429"/>
            <a:ext cx="5623798" cy="702826"/>
          </a:xfrm>
          <a:prstGeom prst="rect">
            <a:avLst/>
          </a:prstGeom>
          <a:noFill/>
          <a:ln/>
        </p:spPr>
        <p:txBody>
          <a:bodyPr wrap="none" lIns="0" tIns="0" rIns="0" bIns="0" rtlCol="0" anchor="t"/>
          <a:lstStyle/>
          <a:p>
            <a:pPr marL="0" indent="0" algn="l">
              <a:lnSpc>
                <a:spcPts val="5500"/>
              </a:lnSpc>
              <a:buNone/>
            </a:pPr>
            <a:r>
              <a:rPr lang="en-US" sz="4400" b="1" dirty="0">
                <a:solidFill>
                  <a:srgbClr val="101014"/>
                </a:solidFill>
                <a:latin typeface="Playfair Display Bold" pitchFamily="34" charset="0"/>
                <a:ea typeface="Playfair Display Bold" pitchFamily="34" charset="-122"/>
                <a:cs typeface="Playfair Display Bold" pitchFamily="34" charset="-120"/>
              </a:rPr>
              <a:t>Conclusion</a:t>
            </a:r>
            <a:endParaRPr lang="en-US" sz="4400" dirty="0"/>
          </a:p>
        </p:txBody>
      </p:sp>
      <p:sp>
        <p:nvSpPr>
          <p:cNvPr id="4" name="Shape 1"/>
          <p:cNvSpPr/>
          <p:nvPr/>
        </p:nvSpPr>
        <p:spPr>
          <a:xfrm>
            <a:off x="787241" y="4723686"/>
            <a:ext cx="506135" cy="506135"/>
          </a:xfrm>
          <a:prstGeom prst="roundRect">
            <a:avLst>
              <a:gd name="adj" fmla="val 6667"/>
            </a:avLst>
          </a:prstGeom>
          <a:solidFill>
            <a:srgbClr val="E0E0EC"/>
          </a:solidFill>
          <a:ln/>
        </p:spPr>
        <p:txBody>
          <a:bodyPr/>
          <a:lstStyle/>
          <a:p>
            <a:endParaRPr lang="en-US"/>
          </a:p>
        </p:txBody>
      </p:sp>
      <p:sp>
        <p:nvSpPr>
          <p:cNvPr id="5" name="Text 2"/>
          <p:cNvSpPr/>
          <p:nvPr/>
        </p:nvSpPr>
        <p:spPr>
          <a:xfrm>
            <a:off x="1518285" y="4723686"/>
            <a:ext cx="3027878" cy="351472"/>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ML Detection Promises</a:t>
            </a:r>
            <a:endParaRPr lang="en-US" sz="2200" dirty="0"/>
          </a:p>
        </p:txBody>
      </p:sp>
      <p:sp>
        <p:nvSpPr>
          <p:cNvPr id="6" name="Text 3"/>
          <p:cNvSpPr/>
          <p:nvPr/>
        </p:nvSpPr>
        <p:spPr>
          <a:xfrm>
            <a:off x="1518285" y="5210056"/>
            <a:ext cx="5684520" cy="359807"/>
          </a:xfrm>
          <a:prstGeom prst="rect">
            <a:avLst/>
          </a:prstGeom>
          <a:noFill/>
          <a:ln/>
        </p:spPr>
        <p:txBody>
          <a:bodyPr wrap="none" lIns="0" tIns="0" rIns="0" bIns="0" rtlCol="0" anchor="t"/>
          <a:lstStyle/>
          <a:p>
            <a:pPr marL="0" indent="0" algn="l">
              <a:lnSpc>
                <a:spcPts val="2800"/>
              </a:lnSpc>
              <a:buNone/>
            </a:pPr>
            <a:r>
              <a:rPr lang="en-US" sz="1750" dirty="0">
                <a:solidFill>
                  <a:srgbClr val="39393C"/>
                </a:solidFill>
                <a:latin typeface="Open Sans" pitchFamily="34" charset="0"/>
                <a:ea typeface="Open Sans" pitchFamily="34" charset="-122"/>
                <a:cs typeface="Open Sans" pitchFamily="34" charset="-120"/>
              </a:rPr>
              <a:t>Enables real-time protection for connected vehicles.</a:t>
            </a:r>
            <a:endParaRPr lang="en-US" sz="1750" dirty="0"/>
          </a:p>
        </p:txBody>
      </p:sp>
      <p:sp>
        <p:nvSpPr>
          <p:cNvPr id="7" name="Shape 4"/>
          <p:cNvSpPr/>
          <p:nvPr/>
        </p:nvSpPr>
        <p:spPr>
          <a:xfrm>
            <a:off x="7427714" y="4723686"/>
            <a:ext cx="506135" cy="506135"/>
          </a:xfrm>
          <a:prstGeom prst="roundRect">
            <a:avLst>
              <a:gd name="adj" fmla="val 6667"/>
            </a:avLst>
          </a:prstGeom>
          <a:solidFill>
            <a:srgbClr val="E0E0EC"/>
          </a:solidFill>
          <a:ln/>
        </p:spPr>
        <p:txBody>
          <a:bodyPr/>
          <a:lstStyle/>
          <a:p>
            <a:endParaRPr lang="en-US"/>
          </a:p>
        </p:txBody>
      </p:sp>
      <p:sp>
        <p:nvSpPr>
          <p:cNvPr id="8" name="Text 5"/>
          <p:cNvSpPr/>
          <p:nvPr/>
        </p:nvSpPr>
        <p:spPr>
          <a:xfrm>
            <a:off x="8158758" y="4723686"/>
            <a:ext cx="2811899" cy="351472"/>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Edge Deployment</a:t>
            </a:r>
            <a:endParaRPr lang="en-US" sz="2200" dirty="0"/>
          </a:p>
        </p:txBody>
      </p:sp>
      <p:sp>
        <p:nvSpPr>
          <p:cNvPr id="9" name="Text 6"/>
          <p:cNvSpPr/>
          <p:nvPr/>
        </p:nvSpPr>
        <p:spPr>
          <a:xfrm>
            <a:off x="8158758" y="5210056"/>
            <a:ext cx="5684520" cy="719614"/>
          </a:xfrm>
          <a:prstGeom prst="rect">
            <a:avLst/>
          </a:prstGeom>
          <a:noFill/>
          <a:ln/>
        </p:spPr>
        <p:txBody>
          <a:bodyPr wrap="square" lIns="0" tIns="0" rIns="0" bIns="0" rtlCol="0" anchor="t"/>
          <a:lstStyle/>
          <a:p>
            <a:pPr marL="0" indent="0" algn="l">
              <a:lnSpc>
                <a:spcPts val="2800"/>
              </a:lnSpc>
              <a:buNone/>
            </a:pPr>
            <a:r>
              <a:rPr lang="en-US" sz="1750" dirty="0">
                <a:solidFill>
                  <a:srgbClr val="39393C"/>
                </a:solidFill>
                <a:latin typeface="Open Sans" pitchFamily="34" charset="0"/>
                <a:ea typeface="Open Sans" pitchFamily="34" charset="-122"/>
                <a:cs typeface="Open Sans" pitchFamily="34" charset="-120"/>
              </a:rPr>
              <a:t>Optimized models support low latency and resource constraints.</a:t>
            </a:r>
            <a:endParaRPr lang="en-US" sz="1750" dirty="0"/>
          </a:p>
        </p:txBody>
      </p:sp>
      <p:sp>
        <p:nvSpPr>
          <p:cNvPr id="10" name="Shape 7"/>
          <p:cNvSpPr/>
          <p:nvPr/>
        </p:nvSpPr>
        <p:spPr>
          <a:xfrm>
            <a:off x="787241" y="6407587"/>
            <a:ext cx="506135" cy="506135"/>
          </a:xfrm>
          <a:prstGeom prst="roundRect">
            <a:avLst>
              <a:gd name="adj" fmla="val 6667"/>
            </a:avLst>
          </a:prstGeom>
          <a:solidFill>
            <a:srgbClr val="E0E0EC"/>
          </a:solidFill>
          <a:ln/>
        </p:spPr>
        <p:txBody>
          <a:bodyPr/>
          <a:lstStyle/>
          <a:p>
            <a:endParaRPr lang="en-US"/>
          </a:p>
        </p:txBody>
      </p:sp>
      <p:sp>
        <p:nvSpPr>
          <p:cNvPr id="11" name="Text 8"/>
          <p:cNvSpPr/>
          <p:nvPr/>
        </p:nvSpPr>
        <p:spPr>
          <a:xfrm>
            <a:off x="1518285" y="6407587"/>
            <a:ext cx="2811899" cy="351472"/>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Future Scope</a:t>
            </a:r>
            <a:endParaRPr lang="en-US" sz="2200" dirty="0"/>
          </a:p>
        </p:txBody>
      </p:sp>
      <p:sp>
        <p:nvSpPr>
          <p:cNvPr id="12" name="Text 9"/>
          <p:cNvSpPr/>
          <p:nvPr/>
        </p:nvSpPr>
        <p:spPr>
          <a:xfrm>
            <a:off x="1518285" y="6893957"/>
            <a:ext cx="5684520" cy="719614"/>
          </a:xfrm>
          <a:prstGeom prst="rect">
            <a:avLst/>
          </a:prstGeom>
          <a:noFill/>
          <a:ln/>
        </p:spPr>
        <p:txBody>
          <a:bodyPr wrap="square" lIns="0" tIns="0" rIns="0" bIns="0" rtlCol="0" anchor="t"/>
          <a:lstStyle/>
          <a:p>
            <a:pPr marL="0" indent="0" algn="l">
              <a:lnSpc>
                <a:spcPts val="2800"/>
              </a:lnSpc>
              <a:buNone/>
            </a:pPr>
            <a:r>
              <a:rPr lang="en-US" sz="1750" dirty="0">
                <a:solidFill>
                  <a:srgbClr val="39393C"/>
                </a:solidFill>
                <a:latin typeface="Open Sans" pitchFamily="34" charset="0"/>
                <a:ea typeface="Open Sans" pitchFamily="34" charset="-122"/>
                <a:cs typeface="Open Sans" pitchFamily="34" charset="-120"/>
              </a:rPr>
              <a:t>Addressing challenges will improve vehicle safety and privacy.</a:t>
            </a:r>
            <a:endParaRPr lang="en-US" sz="1750" dirty="0"/>
          </a:p>
        </p:txBody>
      </p:sp>
      <p:sp>
        <p:nvSpPr>
          <p:cNvPr id="13" name="Shape 10"/>
          <p:cNvSpPr/>
          <p:nvPr/>
        </p:nvSpPr>
        <p:spPr>
          <a:xfrm>
            <a:off x="7427714" y="6407587"/>
            <a:ext cx="506135" cy="506135"/>
          </a:xfrm>
          <a:prstGeom prst="roundRect">
            <a:avLst>
              <a:gd name="adj" fmla="val 6667"/>
            </a:avLst>
          </a:prstGeom>
          <a:solidFill>
            <a:srgbClr val="E0E0EC"/>
          </a:solidFill>
          <a:ln/>
        </p:spPr>
        <p:txBody>
          <a:bodyPr/>
          <a:lstStyle/>
          <a:p>
            <a:endParaRPr lang="en-US"/>
          </a:p>
        </p:txBody>
      </p:sp>
      <p:sp>
        <p:nvSpPr>
          <p:cNvPr id="14" name="Text 11"/>
          <p:cNvSpPr/>
          <p:nvPr/>
        </p:nvSpPr>
        <p:spPr>
          <a:xfrm>
            <a:off x="8158758" y="6407587"/>
            <a:ext cx="2811899" cy="351472"/>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Applications</a:t>
            </a:r>
            <a:endParaRPr lang="en-US" sz="2200" dirty="0"/>
          </a:p>
        </p:txBody>
      </p:sp>
      <p:sp>
        <p:nvSpPr>
          <p:cNvPr id="15" name="Text 12"/>
          <p:cNvSpPr/>
          <p:nvPr/>
        </p:nvSpPr>
        <p:spPr>
          <a:xfrm>
            <a:off x="8158758" y="6893957"/>
            <a:ext cx="5684520" cy="719614"/>
          </a:xfrm>
          <a:prstGeom prst="rect">
            <a:avLst/>
          </a:prstGeom>
          <a:noFill/>
          <a:ln/>
        </p:spPr>
        <p:txBody>
          <a:bodyPr wrap="square" lIns="0" tIns="0" rIns="0" bIns="0" rtlCol="0" anchor="t"/>
          <a:lstStyle/>
          <a:p>
            <a:pPr marL="0" indent="0" algn="l">
              <a:lnSpc>
                <a:spcPts val="2800"/>
              </a:lnSpc>
              <a:buNone/>
            </a:pPr>
            <a:r>
              <a:rPr lang="en-US" sz="1750" dirty="0">
                <a:solidFill>
                  <a:srgbClr val="39393C"/>
                </a:solidFill>
                <a:latin typeface="Open Sans" pitchFamily="34" charset="0"/>
                <a:ea typeface="Open Sans" pitchFamily="34" charset="-122"/>
                <a:cs typeface="Open Sans" pitchFamily="34" charset="-120"/>
              </a:rPr>
              <a:t>Intrusion detection, secure gateways, and autonomous driving security.</a:t>
            </a:r>
            <a:endParaRPr lang="en-US" sz="1750" dirty="0"/>
          </a:p>
        </p:txBody>
      </p:sp>
      <p:pic>
        <p:nvPicPr>
          <p:cNvPr id="16" name="Picture 15">
            <a:extLst>
              <a:ext uri="{FF2B5EF4-FFF2-40B4-BE49-F238E27FC236}">
                <a16:creationId xmlns:a16="http://schemas.microsoft.com/office/drawing/2014/main" id="{78D4369D-6CC4-29BF-880C-2C7756FC2F46}"/>
              </a:ext>
            </a:extLst>
          </p:cNvPr>
          <p:cNvPicPr>
            <a:picLocks noChangeAspect="1"/>
          </p:cNvPicPr>
          <p:nvPr/>
        </p:nvPicPr>
        <p:blipFill>
          <a:blip r:embed="rId4"/>
          <a:stretch>
            <a:fillRect/>
          </a:stretch>
        </p:blipFill>
        <p:spPr>
          <a:xfrm>
            <a:off x="12834210" y="7650974"/>
            <a:ext cx="1705213" cy="47631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418</Words>
  <Application>Microsoft Office PowerPoint</Application>
  <PresentationFormat>Custom</PresentationFormat>
  <Paragraphs>84</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Open Sans</vt:lpstr>
      <vt:lpstr>Playfair Display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 RANGA NITHEESH KUMAR REDDY</cp:lastModifiedBy>
  <cp:revision>2</cp:revision>
  <dcterms:created xsi:type="dcterms:W3CDTF">2025-04-22T13:02:16Z</dcterms:created>
  <dcterms:modified xsi:type="dcterms:W3CDTF">2025-12-11T13:13:45Z</dcterms:modified>
</cp:coreProperties>
</file>